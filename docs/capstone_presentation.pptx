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APPLIED RESEARCH PROJECT  ·  CAPSTONE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400">
                <a:solidFill>
                  <a:srgbClr val="FFFFFF"/>
                </a:solidFill>
              </a:rPr>
              <a:t>A Decision-Oriented Conversational
Shopping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CADCFC"/>
                </a:solidFill>
              </a:rPr>
              <a:t>Preference Elicitation · Explainable Recommendations · Lifecycle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43400"/>
            <a:ext cx="107899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Chenghui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6B7AB8"/>
                </a:solidFill>
              </a:rPr>
              <a:t>California State University, East Bay  ·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01  ·  INTRODUCTION &amp;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Information Retrieval  ≠  Decision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6537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56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Cognitive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396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Users must mentally juggle all constraints and trade-offs themselves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34640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358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26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Vague, Evolving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101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Users rarely know exactly what they want when they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05072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96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Preferences Get Overwritten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80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Add a new constraint — your earlier choices are erased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175504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766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266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Missing Critical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6509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Delivery time, promos, and availability hidden or absent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664208"/>
            <a:ext cx="5715000" cy="4681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1783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CADCFC"/>
                </a:solidFill>
              </a:rPr>
              <a:t>The Decision Burden Falls on the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395728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FFFFFF"/>
                </a:solidFill>
              </a:rPr>
              <a:t>Existing tools assume shopping is a search problem.
In reality, users face a decision problem —
and no platform is built to help them solve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521208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703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Decision fatigue increases with more options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297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Users guess, settle, or abandon purchases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8920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Post-purchase regret when trade-offs aren't clear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5486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Trust erodes when recommendations have no rationale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943600"/>
            <a:ext cx="5715000" cy="38404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59710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→  We built a system that addresses the decision — not just the search.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02  ·  THE MARKET &amp; THE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Existing Platforms — Where They Fall 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265176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Google
Shopping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Search &amp;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627632"/>
            <a:ext cx="2651760" cy="109728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Amazon
Rufus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AI chat in Amazon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1627632"/>
            <a:ext cx="2651760" cy="10972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ChatGPT
Shopping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Natural language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627632"/>
            <a:ext cx="2651760" cy="109728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Perplexity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AI answer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CADCFC"/>
                </a:solidFill>
              </a:rPr>
              <a:t>KEY GAPS ACROSS THE LANDSCAPE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Overwrites preferences mid-conversation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Assumes you already know what you want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Missing delivery, promos &amp; 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Text heavy — low information density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No preference continuity across turns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Multiple steps to reach product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Separates reasoning from shopping 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Opaque ranking — no explanation why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8744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Not built for first-time / cold-start users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40680"/>
            <a:ext cx="11201400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440680"/>
            <a:ext cx="11201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→  The common thread: no platform treats shopping as a decision problem.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Search-first tools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retrieve results,  not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3308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AI chatbots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converse,  but don't structure trade-offs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5352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All surveyed platforms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no preference continuity across turns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03  ·  COMPETITIVE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Capability Comparison Across Platforms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2898648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27632"/>
            <a:ext cx="1435608" cy="59436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00784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Google
Shopping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627632"/>
            <a:ext cx="1435608" cy="59436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00784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Amazon
Rufus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627632"/>
            <a:ext cx="1435608" cy="59436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00784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ChatGPT
Shopping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1627632"/>
            <a:ext cx="1435608" cy="59436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700784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Perplexity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627632"/>
            <a:ext cx="1618488" cy="59436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70078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Our
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258568"/>
            <a:ext cx="2898648" cy="557784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39572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Preference Elicitation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25856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000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25856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35000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25856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35000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80" y="225856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235000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258568"/>
            <a:ext cx="161848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2350008"/>
            <a:ext cx="1618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852928"/>
            <a:ext cx="2898648" cy="557784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9900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Decision Modeling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85292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94436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285292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294436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85292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94436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80" y="285292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294436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2852928"/>
            <a:ext cx="161848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2944368"/>
            <a:ext cx="1618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447288"/>
            <a:ext cx="2898648" cy="557784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58444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Explainable Recommendations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37560" y="344728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353872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44728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353872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44728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53872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80" y="344728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353872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3447288"/>
            <a:ext cx="161848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3538728"/>
            <a:ext cx="1618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041648"/>
            <a:ext cx="2898648" cy="557784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17880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Delivery / Promo Info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404164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413308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404164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0" y="413308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404164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413308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80" y="404164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26680" y="413308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20" y="4041648"/>
            <a:ext cx="161848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89720" y="4133088"/>
            <a:ext cx="1618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636008"/>
            <a:ext cx="2898648" cy="557784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77316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Preference Continuity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37560" y="463600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37560" y="472744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00600" y="463600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00600" y="472744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463600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472744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26680" y="4636008"/>
            <a:ext cx="143560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26680" y="472744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89720" y="4636008"/>
            <a:ext cx="1618488" cy="557784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89720" y="4727448"/>
            <a:ext cx="1618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5230368"/>
            <a:ext cx="2898648" cy="557784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536752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Lifecycle Support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37560" y="523036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37560" y="532180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00600" y="523036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00600" y="532180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63640" y="523036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63640" y="532180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26680" y="5230368"/>
            <a:ext cx="143560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26680" y="5321808"/>
            <a:ext cx="1435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89720" y="5230368"/>
            <a:ext cx="1618488" cy="557784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89720" y="5321808"/>
            <a:ext cx="1618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6035040"/>
            <a:ext cx="1133856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  Our system is the only one that addresses all six gaps simultaneously.  Here is how we built it.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04  ·  OUR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Your Personal AI Shopping Assistant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74720" cy="4114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Understand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Situational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Smart Guided Q&amp;A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51713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171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Continuous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e.g.  “I need something for cooking”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664208"/>
            <a:ext cx="3474720" cy="41148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Built for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Personal AI 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Preference Memory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51713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5171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Decision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remembers  ≤ $80  ·  3-day  ·  quiet home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64208"/>
            <a:ext cx="3474720" cy="4114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Clear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Structured — Not Text Heavy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Full Attributes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451713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5171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Explainable Trade-offs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shows the trade-off,  not just the rank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925312"/>
            <a:ext cx="11109960" cy="530352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25312"/>
            <a:ext cx="1110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🏠  Lifecycle Support  —  Value continues long after the purchase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05A  ·  CONCEPTUAL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Five-Layer Decision Support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Preference
Elicitation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Transforms vague needs
into structured inputs
via conversational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Decision
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Multi-criteria model:
hard constraints +
weighted soft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4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24144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Recommendation
&amp;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Constraint-aware ranking
of feasible products;
no click-prediction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6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Explainability
&amp; Interaction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Why this fits, what
you give up — trade-offs
made transparent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8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9568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Lifecycle
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Post-purchase value:
meal planning, scheduling,
decision reinforcement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00">
                <a:solidFill>
                  <a:srgbClr val="6B7AB8"/>
                </a:solidFill>
              </a:rPr>
              <a:t>End-to-end: vague need → structured decision → ranked products → explained trade-offs → lifecycle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05B  ·  RUNTIME ARCHITECTURE — TECH &amp;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Components &amp; How They Communicate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19072"/>
            <a:ext cx="256032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249424"/>
            <a:ext cx="2340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Stage 1 — Onboarding
Stage 2 — Elicitation Q&amp;A
Stage 3 — Recommendations
Stage 4 — Refinement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719072"/>
            <a:ext cx="3383280" cy="18288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013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FastAPI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9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CADCFC"/>
                </a:solidFill>
              </a:rPr>
              <a:t>/start   /answer
/recommend   /refine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980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FFFFFF"/>
                </a:solidFill>
              </a:rPr>
              <a:t>Orchestrates all logic:
Claude · Ranking · Product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719072"/>
            <a:ext cx="3063240" cy="1828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80136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Claude Sonnet  (AI)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24942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Parse preferences
Clarifying questions
Explain trade-offs
Lifecycle suggestions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114800"/>
            <a:ext cx="2560320" cy="164592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1970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645152"/>
            <a:ext cx="23408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Weighted scoring
Hard constraint filter
Deterministic — no AI
You control the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114800"/>
            <a:ext cx="2560320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1970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Product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645152"/>
            <a:ext cx="23408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products_clean.json
100 products · 3 categories
Smart Display · Water Bottle
Kitchen Organizer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4114800"/>
            <a:ext cx="2743200" cy="164592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41970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ETL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4645152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Playwright scrapers
Amazon · Target
Normalize &amp; deduplicate
Offline batch feed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2505456"/>
            <a:ext cx="13716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0792" y="23957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2951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REST calls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2724912"/>
            <a:ext cx="13716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25496" y="26334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2505456"/>
            <a:ext cx="11887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23957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29514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msg +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2724912"/>
            <a:ext cx="11887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0376" y="26334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7889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AI response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30900" y="3547872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80560" y="3818636"/>
            <a:ext cx="283464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67860" y="3831336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91363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02500" y="3831336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391363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6027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profile + products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867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ranked list 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602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query feasible set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4925060"/>
            <a:ext cx="2743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0496" y="479145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916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offline feed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06  ·  RECOMMENDATION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1E2761"/>
                </a:solidFill>
              </a:rPr>
              <a:t>The Deterministic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44752"/>
            <a:ext cx="3730752" cy="384048"/>
          </a:xfrm>
          <a:prstGeom prst="rect">
            <a:avLst/>
          </a:prstGeom>
          <a:solidFill>
            <a:srgbClr val="6B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🤖  Claude — Preference Parsing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444752"/>
            <a:ext cx="3730752" cy="384048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5384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⚙️  Rule-Based — Ranking &amp; Filtering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9288" y="1444752"/>
            <a:ext cx="3730752" cy="384048"/>
          </a:xfrm>
          <a:prstGeom prst="rect">
            <a:avLst/>
          </a:prstGeom>
          <a:solidFill>
            <a:srgbClr val="6B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🤖  Claude — Trade-off Explanation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93392"/>
            <a:ext cx="52578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048256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① Hard Constraint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359152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</a:rPr>
              <a:t>Budget ceiling · delivery deadline — non-negotiable.
Eliminated before scoring, no exceptions.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8940" y="2816352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90088"/>
            <a:ext cx="5257800" cy="86868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044952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② Build Feasible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355848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Only products satisfying ALL hard constraints proceed.
Typically reduces 100 products to 10–20 candidates.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8940" y="3813048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86784"/>
            <a:ext cx="5257800" cy="86868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041648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③ Two-Tier Weighted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352544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General: rating · price · delivery  (weights from user priorities — not fixed)
Feature: category-specific attributes  (voice · screen · smart-home · brand)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8940" y="4809744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83480"/>
            <a:ext cx="5257800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503834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④ Ranked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5349240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Combined = α × General  +  (1 − α) × Feature
Sort descending · Top N returned with scores preserved for explanation.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1993392"/>
            <a:ext cx="5852160" cy="420624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0299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Example — User intent: “Reliable smart display · Can wait on delivery · Budget flexible”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5054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GENERAL WEIGHTS  —  dynamic, derived from this user's priorities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743200"/>
            <a:ext cx="1828800" cy="329184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Rating  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64424" y="2743200"/>
            <a:ext cx="1828800" cy="329184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64424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Price  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8088" y="2743200"/>
            <a:ext cx="182880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48088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Delivery 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16382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FEATURE WEIGHTS  —  category-specific  (smart displays)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Voice  40%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88936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6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Screen  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7112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Smart Home  20%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05288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5288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Brand  10%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840480"/>
            <a:ext cx="585216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89320" y="3840480"/>
            <a:ext cx="109728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4041648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✓  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38770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Amazon Echo Show 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416966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$79 · 4.7★ · 2-day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1240" y="3895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Gen: 85  ·  Feat: 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1E2761"/>
                </a:solidFill>
              </a:rPr>
              <a:t>Combined: 82   →  #1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4553712"/>
            <a:ext cx="5852160" cy="658368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9320" y="4553712"/>
            <a:ext cx="109728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07608" y="4754880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✓  PASS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590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Google Nest Hub (2nd Gen)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48828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$65 · 4.5★ · 3-day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Gen: 78  ·  Feat: 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4882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1E2761"/>
                </a:solidFill>
              </a:rPr>
              <a:t>Combined: 80   →  #2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5266944"/>
            <a:ext cx="585216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89320" y="5266944"/>
            <a:ext cx="1097280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07608" y="54681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✗  ELIMINATED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Amazon Echo Show 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55961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$249 · 4.8★ · 2-day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5321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$249 &gt; $80 budget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5596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E74C3C"/>
                </a:solidFill>
              </a:rPr>
              <a:t>Eliminated before scoring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01675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When the system must decide what to show the user, AI steps aside.  Ranking is rule-based, reproducible, and auditable — trust is anchored here.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07  ·  DATA, AI &amp;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</a:rPr>
              <a:t>The Supporting Stack — What Feeds the Decision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5577840" cy="226771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ETL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969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Playwright scrapers  ·  Amazon · Target
Primary + fallback + supplement logic
Anti-bot stealth · human-like delays
Normalize: price, rating, delivery, dedup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362102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6301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100 products  ·  3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664208"/>
            <a:ext cx="5577840" cy="22677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73736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Product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13969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ScrapedProduct — 10-field TypedDict
Normalization examples:
  “arrives Mar 14”  →  5 days
  “1K reviews”  →  1000
Two-phase dedup: URL exact + fuzzy title prefix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62102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301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data/clean/products_clean.json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041648"/>
            <a:ext cx="5577840" cy="226771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Claude AI  —  4 Call 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①  Parse natural-language preferences
②  Generate clarifying questions
③  Explain trade-offs per product
④  Lifecycle suggestions post-purchase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599846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0076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NOT ranking  —  ranking is deterministic (Slide 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4041648"/>
            <a:ext cx="5577840" cy="2267712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1148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React Frontend  —  4 Stages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51713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①  Onboarding  —  situational context
②  Elicitation Q&amp;A  —  structured preferences
③  Recommendations  —  ranked list + trade-offs
④  Refinement  —  re-rank + lifecycle
Single-page app · FastAPI REST 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99846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60076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React · TypeScript · axios · FastAPI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08  ·  RESULTS &amp;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Capability Validation &amp; Scenario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5669280" cy="43891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Capability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Capability gaps addressed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151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6 of 6 gaps resolved — no competing platform
addresses more than 2 simultaneously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Information completeness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All decision-critical attributes surfaced:
price, rating, delivery, promos — in one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Interaction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439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End-to-end decision in 4 stages, zero
external page navigation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Decision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583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Every recommendation includes a structured
explanation mapped to user priorities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64208"/>
            <a:ext cx="5394960" cy="438912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Demo — Kitchen Assistant 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① 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151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'I want something for cooking'
→  System confirms: smart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②  Elicitation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295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5 guided questions: budget, screen,
delivery, household, voice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148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③ 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439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Ranked list with price, rating, delivery
+ trade-off explanation per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29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④  Refinement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3583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Deprioritize screen size → re-ranked
by delivery + lifecycle suggestions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199632"/>
            <a:ext cx="10469880" cy="384048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236208"/>
            <a:ext cx="10469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Heuristic self-assessment against the six capability gaps  ·  formal user study is future work (see Slide 11)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09  ·  LIMITATIONS, 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</a:rPr>
              <a:t>Honest Assessment · What This Proves ·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3657600" cy="4800600"/>
          </a:xfrm>
          <a:prstGeom prst="rect">
            <a:avLst/>
          </a:prstGeom>
          <a:solidFill>
            <a:srgbClr val="6B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64208"/>
            <a:ext cx="3657600" cy="48006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Conclusions &amp;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664208"/>
            <a:ext cx="3657600" cy="4800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Small dataset — 100 products,
    3 categories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No formal user study —
    heuristic evaluation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Static data — prices &amp; delivery
    change dynamically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Rule-based ranking — weights
    inferred, not learned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Decision support feasible
    end-to-end with Claude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Structured elicitation designed
    to address cognitive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Explainable trade-offs increase
    decision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Real ETL pipeline validates
    data engineering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5477256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Lifecycle layer extends value
    beyond the point of purchase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Formal user study
    (SUS, task completion 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Live retailer API
    for real-time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ML-based ranking
    from interaction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Expand to more
    product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5477256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Mobile-first UI
    redesign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60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200">
                <a:solidFill>
                  <a:srgbClr val="CADCFC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103327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520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Author: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520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Chenghui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1788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Institution: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1788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California State University, East Bay (CSUEB)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83717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Project: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83717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Decision-Oriented Conversational Shopping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49554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Stack: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495544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React · FastAPI · Claude AI · Playwright ·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