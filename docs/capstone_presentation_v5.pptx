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7248"/>
    <p:restoredTop sz="94672"/>
  </p:normalViewPr>
  <p:slideViewPr>
    <p:cSldViewPr snapToGrid="0" snapToObjects="1">
      <p:cViewPr>
        <p:scale>
          <a:sx n="110" d="100"/>
          <a:sy n="110" d="100"/>
        </p:scale>
        <p:origin x="176" y="-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4F60B-AA65-D449-8D41-B4361286FA8D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2C78E8-E846-484E-A7A6-D508189F4B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620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Talking points for this slide:</a:t>
            </a:r>
          </a:p>
          <a:p>
            <a:r>
              <a:rPr dirty="0"/>
              <a:t>1. UNDERSTAND YOU — the assistant lets the user start from a frustration ('phone screen too small for cooking') instead of a category. Six chip questions per category — voice ecosystem, placement, screen size, privacy, etc. — are decision-relevant, not generic budget/urgency.</a:t>
            </a:r>
          </a:p>
          <a:p>
            <a:r>
              <a:rPr dirty="0"/>
              <a:t>2. REMEMBERS YOU — every refine turn captures a preference diff and renders it as a 'What changed' card. Implicit </a:t>
            </a:r>
            <a:r>
              <a:rPr dirty="0" err="1"/>
              <a:t>prefs</a:t>
            </a:r>
            <a:r>
              <a:rPr dirty="0"/>
              <a:t> are inferred from the free-text frustration ('leaks' -&gt; leak-resistant, 'heavy' -&gt; lightweight).</a:t>
            </a:r>
          </a:p>
          <a:p>
            <a:r>
              <a:rPr dirty="0"/>
              <a:t>3. CLEAR DECISIONS — the assistant returns 3 differentiated picks (Best Fit / Budget Pick / Stretch). Each pick carries a ✓/✗/? checklist mapping every chip the user picked to a match status. Compare view lays 2-3 finalists side-by-side with row-winners highlighted.</a:t>
            </a:r>
          </a:p>
          <a:p>
            <a:r>
              <a:rPr dirty="0"/>
              <a:t>4. LIFECYCLE LAYER — framed as a prototype concept that demonstrates the assistant continuing to add value after purchase (phone reminders, gym-bag checklist, replacement parts). Not a finished post-purchase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Architecture talking points:</a:t>
            </a:r>
          </a:p>
          <a:p>
            <a:r>
              <a:t>- React frontend talks to FastAPI backend over REST. The five scenes are Need Discovery, Clarification, 3 Curated Picks, Why-this-fits, Lifecycle.</a:t>
            </a:r>
          </a:p>
          <a:p>
            <a:r>
              <a:t>- FastAPI orchestrates Claude (language) and the Recommendation Engine (deterministic). Eight endpoints including /save and /lifecycle.</a:t>
            </a:r>
          </a:p>
          <a:p>
            <a:r>
              <a:t>- Claude Opus 4.7 is used at three call sites: parse free-text input, write personal product copy, parse refine intent. Each has a deterministic fallback so the demo runs without an API key — regex classifier for input, rule-&gt;text dictionary for copy, regex parser for refine.</a:t>
            </a:r>
          </a:p>
          <a:p>
            <a:r>
              <a:t>- Recommendation Engine is plain Python: filter, score, rank, curated 3 picks, factual tradeoff labels. It is never an LLM call. This is the trust boundary that anchors auditability.</a:t>
            </a:r>
          </a:p>
          <a:p>
            <a:r>
              <a:t>- Product DB is products_clean.json with 100 products across the three categories. ETL via Playwright is offline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Algorithm walkthrough (worked example):</a:t>
            </a:r>
          </a:p>
          <a:p>
            <a:r>
              <a:t>User intent: 'Reliable smart display, can wait on delivery, budget flexible'.</a:t>
            </a:r>
          </a:p>
          <a:p>
            <a:r>
              <a:t>GENERAL WEIGHTS (dynamic, derived from user priority): rating 50%, price 30%, delivery 20%.</a:t>
            </a:r>
          </a:p>
          <a:p>
            <a:r>
              <a:t>FEATURE WEIGHTS (smart_display): voice 40%, screen 30%, smart-home 20%, brand 10%.</a:t>
            </a:r>
          </a:p>
          <a:p>
            <a:r>
              <a:t>PRODUCTS:</a:t>
            </a:r>
          </a:p>
          <a:p>
            <a:r>
              <a:t>  Echo Show 8 ($79, 4.7 stars, 2-day) -&gt; Gen 85 / Feat 78 / Combined 82 -&gt; #1</a:t>
            </a:r>
          </a:p>
          <a:p>
            <a:r>
              <a:t>  Nest Hub 2nd Gen ($65, 4.5 stars, 3-day) -&gt; Gen 78 / Feat 82 / Combined 80 -&gt; #2</a:t>
            </a:r>
          </a:p>
          <a:p>
            <a:r>
              <a:t>  Echo Show 15 ($249) eliminated by $80 budget filter before scoring.</a:t>
            </a:r>
          </a:p>
          <a:p>
            <a:r>
              <a:t>Trust-boundary anchor: when the system must decide what to show, AI steps aside. Ranking is rule-based, reproducible,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Supporting stack — talking points:</a:t>
            </a:r>
          </a:p>
          <a:p>
            <a:r>
              <a:t>ETL: scrapes 100 products via Playwright with anti-bot measures, normalises delivery copy ('arrives Mar 14' -&gt; 5 days). 72/100 delivery values were missing post-scrape and are flagged 'estimated'; descriptions for all 100 are flagged 'synthesised from title'. No silent fabrication.</a:t>
            </a:r>
          </a:p>
          <a:p>
            <a:endParaRPr/>
          </a:p>
          <a:p>
            <a:r>
              <a:t>Attribute extraction: regex-based, runs at load time. Echo Show models map to known screen sizes (5 -&gt; 5.5", 8 -&gt; 8", 15 -&gt; 15.6"); ecosystems infer from Echo/Nest/HomePod keywords; bottle capacity from 'oz' patterns.</a:t>
            </a:r>
          </a:p>
          <a:p>
            <a:endParaRPr/>
          </a:p>
          <a:p>
            <a:r>
              <a:t>Claude call sites in the runtime: parse free-text input, write personal copy, parse refine intent. All three have deterministic fallbacks so the demo runs without an API key. Ranking is never an LLM call.</a:t>
            </a:r>
          </a:p>
          <a:p>
            <a:endParaRPr/>
          </a:p>
          <a:p>
            <a:r>
              <a:t>AI tooling across the build (disclosed honestly):</a:t>
            </a:r>
          </a:p>
          <a:p>
            <a:r>
              <a:t>- Runtime model:  Claude Opus 4.7 (anthropic SDK).</a:t>
            </a:r>
          </a:p>
          <a:p>
            <a:r>
              <a:t>- Pair-programming:  Claude Code agent on Opus 4.7 across the build.</a:t>
            </a:r>
          </a:p>
          <a:p>
            <a:r>
              <a:t>- Independent validation:  Codex GPT-5.5 was run as an independent technical reviewer to flag demo-safety issues.</a:t>
            </a:r>
          </a:p>
          <a:p>
            <a:r>
              <a:t>All three are named in the report's AI Contributions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Live demo script (matches the running app exactly):</a:t>
            </a:r>
          </a:p>
          <a:p>
            <a:endParaRPr/>
          </a:p>
          <a:p>
            <a:r>
              <a:t>1. Type into Scene 1: 'current bottle is heavy and leaks in my gym bag'.</a:t>
            </a:r>
          </a:p>
          <a:p>
            <a:r>
              <a:t>   Observe: category auto-classified as water_bottle. The route also infers leak_proof_preferred=True from the word 'leaks'.</a:t>
            </a:r>
          </a:p>
          <a:p>
            <a:endParaRPr/>
          </a:p>
          <a:p>
            <a:r>
              <a:t>2. Scene 2: pick three chips — Water Bottle / Gym / Large capacity. Skip the others. Hit 'See recommendations'.</a:t>
            </a:r>
          </a:p>
          <a:p>
            <a:endParaRPr/>
          </a:p>
          <a:p>
            <a:r>
              <a:t>3. Scene 3: three differentiated picks render in a row.</a:t>
            </a:r>
          </a:p>
          <a:p>
            <a:r>
              <a:t>   - BEST FIT: Owala 24oz FreeSip — rules [gym_suitable, large_capacity_pref, leak_proof_match]. The Large-capacity preference is honoured (≥24oz) and leak-resistance is matched.</a:t>
            </a:r>
          </a:p>
          <a:p>
            <a:r>
              <a:t>   - BUDGET PICK: Zak Designs 19oz — labels [Cheapest, Most portable]. Honestly shows ✗ Large capacity (19oz) in its checklist.</a:t>
            </a:r>
          </a:p>
          <a:p>
            <a:r>
              <a:t>   - LARGE CAPACITY PICK: Owala 32oz FreeSip — labels [Most capacity, Most leakproof].</a:t>
            </a:r>
          </a:p>
          <a:p>
            <a:endParaRPr/>
          </a:p>
          <a:p>
            <a:r>
              <a:t>4. Click 'See why' on Best Fit. Stage 4 quotes the user's frustration, lists the rule-grounded reasons, and shows the ✓/✗/? checklist of every preference.</a:t>
            </a:r>
          </a:p>
          <a:p>
            <a:endParaRPr/>
          </a:p>
          <a:p>
            <a:r>
              <a:t>5. Refine: type 'larger'. The diff card shows size_preference None -&gt; large; Best Fit flips to 32oz. Demonstrates preference continuity.</a:t>
            </a:r>
          </a:p>
          <a:p>
            <a:endParaRPr/>
          </a:p>
          <a:p>
            <a:r>
              <a:t>6. Click compare on 2-3 picks; the side-by-side overlay highlights the row-winner (lowest price, largest capacity, etc.) per attribute.</a:t>
            </a:r>
          </a:p>
          <a:p>
            <a:endParaRPr/>
          </a:p>
          <a:p>
            <a:r>
              <a:t>7. Continue to Lifecycle (prototype). Phone reminders / gym-bag checklist / replacement parts — honest about what the bottle can/cannot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575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APPLIED RESEARCH PROJECT  ·  CAPSTONE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 Decision-Oriented Conversational
Shopping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03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</a:rPr>
              <a:t>Preference Elicitation · Explainable Recommendations · Lifecycle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343400"/>
            <a:ext cx="107899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4480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B8"/>
                </a:solidFill>
              </a:rPr>
              <a:t>California State University, East Bay  ·  April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B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01  ·  INTRODUCTION &amp; BUSINESS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</a:rPr>
              <a:t>Information Retrieval  ≠  Decision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865376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5564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Cognitive Overload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3969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Users must mentally juggle all constraints and trade-offs themselves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834640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03580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260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Vague, Evolving Needs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1012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Users rarely know exactly what they want when they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05072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20624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9651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Preferences Get Overwritten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805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Add a new constraint — your earlier choices are erased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75504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5376672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266944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Missing Critical Info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65099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Delivery time, promos, and availability hidden or absent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1664208"/>
            <a:ext cx="5715000" cy="468172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99632" y="178308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</a:rPr>
              <a:t>The Decision Burden Falls on the 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2395728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</a:rPr>
              <a:t>Existing tools assume shopping is a search problem.
In reality, users face a decision problem —
and no platform is built to help them solve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521208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99632" y="370332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Decision fatigue increases with more options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29768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Users guess, settle, or abandon purchases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4892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Post-purchase regret when trade-offs aren't clear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54864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·  Trust erodes when recommendations have no rationale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943600"/>
            <a:ext cx="5715000" cy="384048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72200" y="597103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</a:rPr>
              <a:t>→  We built a system that addresses the decision — not just the search.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8CC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02  ·  THE MARKET &amp; THE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Existing Platforms — Where They Fall Short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2651760" cy="10972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Google
Shopping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</a:rPr>
              <a:t>Search &amp; filter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627632"/>
            <a:ext cx="2651760" cy="10972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20440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Amazon
Rufus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</a:rPr>
              <a:t>AI chat in Amazon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504" y="1627632"/>
            <a:ext cx="2651760" cy="10972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ChatGPT
Shopping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</a:rPr>
              <a:t>Natural language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627632"/>
            <a:ext cx="2651760" cy="10972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36024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Perplexity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</a:rPr>
              <a:t>AI answer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</a:rPr>
              <a:t>KEY GAPS ACROSS THE LANDSCAPE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Overwrites preferences mid-conversation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62272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Assumes you already know what you want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30184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Missing delivery, promos &amp; availability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Text heavy — low information density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62272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No preference continuity across turns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30184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Multiple steps to reach product page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Separates reasoning from shopping 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62272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Opaque ranking — no explanation why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38744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30184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✗  Not built for first-time / cold-start users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</a:rPr>
              <a:t>→  The common thread: no platform treats shopping as a decision problem.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264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Search-first 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→  retrieve results,  not decisions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2336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13308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AI chatbots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3308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→  converse,  but don't structure trade-offs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5352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All surveyed platforms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5352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→  no preference continuity across turns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B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03  ·  COMPETITIVE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</a:rPr>
              <a:t>Capability Comparison Across Platforms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591056"/>
            <a:ext cx="2898648" cy="5303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664208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</a:rPr>
              <a:t>Google
Shopping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</a:rPr>
              <a:t>Amazon
Rufus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</a:rPr>
              <a:t>ChatGPT
Shopping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8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</a:rPr>
              <a:t>Perplexity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591056"/>
            <a:ext cx="161848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35440" y="1664208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</a:rPr>
              <a:t>Our
System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5798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229514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Preference Elicitation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3756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060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6364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8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2668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89720" y="2157984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89720" y="224942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68833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2920" y="282549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Decision Modeling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3756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0060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80060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6364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2668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72668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89720" y="2688336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89720" y="277977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218688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2920" y="3355848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Explainable Recommendations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3756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33756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0060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80060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364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8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72668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89720" y="3218688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189720" y="3310128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3749040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02920" y="3886200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Delivery / Promo Info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33756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0060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0060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26364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68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72668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89720" y="3749040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89720" y="3840480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4279392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02920" y="4416552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Preference Continuity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33756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33756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0060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80060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26364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2668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72668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89720" y="4279392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9189720" y="4370832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" y="480974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02920" y="494690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Side-by-Side Comparison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3756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333756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0060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80060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6364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26364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2668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772668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89720" y="4809744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9189720" y="490118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534009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502920" y="547725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Lifecycle Support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3756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333756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80060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80060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6364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26364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72668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772668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89720" y="5340096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189720" y="543153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" y="6080760"/>
            <a:ext cx="11338560" cy="39319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594360" y="611733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</a:rPr>
              <a:t>→  In our self-evaluation against these platforms, our system addresses all seven gaps.  Here is how we built it.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8CC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575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04  ·  OUR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Your Personal AI Shopping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3474720" cy="4114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Understand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</a:rPr>
              <a:t>Frustration →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</a:rPr>
              <a:t>Decision-Relevant Q&amp;A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ADCFC"/>
                </a:solidFill>
              </a:rPr>
              <a:t>ecosystem · placement · privacy ·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1664208"/>
            <a:ext cx="3474720" cy="4114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Remembers You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</a:rPr>
              <a:t>Preference Continuity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</a:rPr>
              <a:t>Visible Diff on Refine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ADCFC"/>
                </a:solidFill>
              </a:rPr>
              <a:t>“leaks” → leak-proof  ·  “heavy” → lightweight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1664208"/>
            <a:ext cx="3474720" cy="4114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Clear Decisions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</a:rPr>
              <a:t>3 Curated Picks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</a:rPr>
              <a:t>Why-this-fits  ·  Compare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ADCFC"/>
                </a:solidFill>
              </a:rPr>
              <a:t>Best Fit · Budget Pick · Stretch Pick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🏠  Lifecycle Layer (prototype)  —  Realistic post-purchase support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B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05A  ·  CONCEPTUAL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</a:rPr>
              <a:t>Five-Layer Decision Support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</a:rPr>
              <a:t>Preference
Elicitation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Transforms vague needs
into structured inputs
via conversational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</a:rPr>
              <a:t>Decision
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Multi-criteria model:
hard constraints +
weighted soft preferences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4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</a:rPr>
              <a:t>Recommendation
&amp;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Constraint-aware ranking
of feasible products;
no click-prediction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0336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1776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</a:rPr>
              <a:t>Explainability
&amp; Interaction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Why this fits, what
you give up — trade-offs
made transparent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28048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ADCFC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</a:rPr>
              <a:t>Lifecycle
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7776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Post-purchase value:
meal planning, scheduling,
decision reinforcement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AB8"/>
                </a:solidFill>
              </a:rPr>
              <a:t>End-to-end: vague need → structured decision → ranked products → explained trade-offs → lifecycle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8CC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05B  ·  RUNTIME ARCHITECTURE — TECH &amp; INTERACTIONS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Components &amp; How They Communicate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719072"/>
            <a:ext cx="256032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801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React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249424"/>
            <a:ext cx="23408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Stage 1 — Need Discovery
Stage 2 — Clarification Q&amp;A
Stage 3 — 3 Curated Picks
Stage 4 — Why This Fits
Stage 5 — Lifecycle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19072"/>
            <a:ext cx="3383280" cy="1828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43400" y="18013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FastAPI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9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ADCFC"/>
                </a:solidFill>
              </a:rPr>
              <a:t>/start  /answer  /recommend
/refine  /save  /lifecycle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7980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Orchestrates all logic + deterministic
fallbacks (regex refine, classifier)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3960" y="1719072"/>
            <a:ext cx="3063240" cy="1828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5400" y="180136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Claude Opus 4.7  (AI)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249424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Parse free-text input
Write personal copy
Parse refine intent
(deterministic fallback per call)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14800"/>
            <a:ext cx="2560320" cy="164592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9184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Recommendation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Filter · score · rank
Curated 3 picks
Tradeoff labels (factual)
Deterministic — no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114800"/>
            <a:ext cx="2560320" cy="1645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Product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products_clean.json
100 products · 3 categories
Smart Display · Water Bottle
Kitchen Organizer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2743200" cy="16459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0" y="41970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ADCFC"/>
                </a:solidFill>
              </a:rPr>
              <a:t>ETL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46451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Playwright scrapers
Amazon · Target
Normalize &amp; deduplicate
Offline batch feed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505456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50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295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AB8"/>
                </a:solidFill>
              </a:rPr>
              <a:t>REST calls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2724912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82549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27889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AB8"/>
                </a:solidFill>
              </a:rPr>
              <a:t>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2505456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22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2295144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AB8"/>
                </a:solidFill>
              </a:rPr>
              <a:t>msg +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2724912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8037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278892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AB8"/>
                </a:solidFill>
              </a:rPr>
              <a:t>AI response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30900" y="3547872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480560" y="3818636"/>
            <a:ext cx="283464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46786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8912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0250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22376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36027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AB8"/>
                </a:solidFill>
              </a:rPr>
              <a:t>profile + products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38679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AB8"/>
                </a:solidFill>
              </a:rPr>
              <a:t>ranked list 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6027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7AB8"/>
                </a:solidFill>
              </a:rPr>
              <a:t>query feasible set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5360" y="4925060"/>
            <a:ext cx="2743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540496" y="479145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470916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AB8"/>
                </a:solidFill>
              </a:rPr>
              <a:t>offline feed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B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661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06  ·  RECOMMENDATION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</a:rPr>
              <a:t>The Deterministic Core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🤖  Claude — Free-Text Parsing (with regex fallback)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15384" y="1444752"/>
            <a:ext cx="3730752" cy="384048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15384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⚙️  Rule-Based — Ranking · Picks · Labels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19288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🤖  Claude — Personal Copy (with grounded fallback)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93392"/>
            <a:ext cx="5257800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8" y="2048256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</a:rPr>
              <a:t>①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359152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</a:rPr>
              <a:t>Apply hard constraints (budget, delivery, no-camera).
Non-matches drop out before scoring.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8940" y="2816352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90088"/>
            <a:ext cx="5257800" cy="8686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②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355848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General: rating · price · delivery (weights from priority)
Feature: category rules (voice · screen · privacy · 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8940" y="3813048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986784"/>
            <a:ext cx="5257800" cy="8686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4041648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③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352544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Combined = General + category bonus.
Sort top-N descending.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8940" y="4809744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83480"/>
            <a:ext cx="5257800" cy="8686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1208" y="5038344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④ Curate 3 Picks + Labels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5349240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Best Fit · Budget Pick · Stretch.
Factual labels (Cheapest, Most leakproof) — only when true.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1993392"/>
            <a:ext cx="5852160" cy="42062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80760" y="20299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Example — User intent: “Reliable smart display · Can wait on delivery · Budget flexible”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250545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GENERAL WEIGHTS  —  dynamic, derived from this user's priorities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743200"/>
            <a:ext cx="1828800" cy="32918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80760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Rating  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64424" y="2743200"/>
            <a:ext cx="1828800" cy="329184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64424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Price  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48088" y="2743200"/>
            <a:ext cx="1828800" cy="32918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848088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Delivery  20%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316382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FEATURE WEIGHTS  —  category-specific  (smart displays)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80760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ADCFC"/>
                </a:solidFill>
              </a:rPr>
              <a:t>Voice  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88936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88936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ADCFC"/>
                </a:solidFill>
              </a:rPr>
              <a:t>Screen  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97112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897112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ADCFC"/>
                </a:solidFill>
              </a:rPr>
              <a:t>Smart Home  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05288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305288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ADCFC"/>
                </a:solidFill>
              </a:rPr>
              <a:t>Brand  10%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840480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989320" y="3840480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007608" y="4041648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8770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2E"/>
                </a:solidFill>
              </a:rPr>
              <a:t>Amazon Echo Show 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416966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B8"/>
                </a:solidFill>
              </a:rPr>
              <a:t>$79 · 4.7★ · 2-day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21240" y="38953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1A1A2E"/>
                </a:solidFill>
              </a:rPr>
              <a:t>Gen: 85  ·  Feat: 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4169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1E2761"/>
                </a:solidFill>
              </a:rPr>
              <a:t>Combined: 82   →  #1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4553712"/>
            <a:ext cx="5852160" cy="658368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5989320" y="4553712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007608" y="4754880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804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2E"/>
                </a:solidFill>
              </a:rPr>
              <a:t>Google Nest Hub (2nd Gen)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78040" y="4882896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B8"/>
                </a:solidFill>
              </a:rPr>
              <a:t>$65 · 4.5★ · 3-day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2124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1A1A2E"/>
                </a:solidFill>
              </a:rPr>
              <a:t>Gen: 78  ·  Feat: 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1240" y="48828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1E2761"/>
                </a:solidFill>
              </a:rPr>
              <a:t>Combined: 80   →  #2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5266944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5989320" y="5266944"/>
            <a:ext cx="1097280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007608" y="546811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✗  ELIMINATED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78040" y="5303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2E"/>
                </a:solidFill>
              </a:rPr>
              <a:t>Amazon Echo Show 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55961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AB8"/>
                </a:solidFill>
              </a:rPr>
              <a:t>$249 · 4.8★ · 2-day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5321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1A1A2E"/>
                </a:solidFill>
              </a:rPr>
              <a:t>$249 &gt; $80 budget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21240" y="55961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74C3C"/>
                </a:solidFill>
              </a:rPr>
              <a:t>Eliminated before scoring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989320"/>
            <a:ext cx="11338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02920" y="6016752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ADCFC"/>
                </a:solidFill>
              </a:rPr>
              <a:t>When the system must decide what to show the user, AI steps aside.  Ranking is rule-based, reproducible, and auditable — trust is anchored here.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8CC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07  ·  DATA, AI &amp;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</a:rPr>
              <a:t>The Supporting Stack — What Feeds the Decision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577840" cy="226771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ETL  +  Provenance Flags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Playwright scrapers  ·  Amazon · Target
Anti-bot stealth · normalize · dedup
Each field flagged: scraped vs estimated
vs synthesised — no silent fabrication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100 products  ·  3 categories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664208"/>
            <a:ext cx="5577840" cy="226771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36792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Attribute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screen_inches · ecosystems · has_camera
mounting · capacity_oz · bottle_material
drinking_style · organiser_material
Pulled from titles at load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feeds ranker, picks, compare 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41648"/>
            <a:ext cx="5577840" cy="2267712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Claude Opus 4.7  —  3 Call Sites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①  Parse free-text input
②  Write personal product copy
③  Parse refine intent
Every call has a deterministic fallback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Never on the ranking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4041648"/>
            <a:ext cx="5577840" cy="226771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36792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React Frontend  —  5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①  Need Discovery
②  Clarification Q&amp;A
③  3 Curated Picks
④  Why This Fits  (rule-grounded checklist)
⑤  Lifecycle  (prototype value-extension)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+ Compare overlay · Save-for-later · Diff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446520"/>
            <a:ext cx="11338560" cy="3291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64648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</a:rPr>
              <a:t>AI tooling:  Runtime  Claude Opus 4.7   ·   Build  Claude Code (Opus 4.7)   ·   Independent validation  Codex GPT-5.5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8CC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</a:rPr>
              <a:t>08  ·  RESULTS &amp;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Capability Validation &amp; Scenario Walkthrough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5669280" cy="43891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Capability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860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</a:rPr>
              <a:t>✓  Capability gaps (self-evaluation)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151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 of 7 gaps addressed in our walkthroughs;
no surveyed platform addressed more than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</a:rPr>
              <a:t>✓  Decision-critical attributes inline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5295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Screen size, ecosystem, camera, capacity,
material — surfaced on every pick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</a:rPr>
              <a:t>✓  End-to-end in five scenes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439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Need → clarify → 3 picks → why-this-fits →
lifecycle. Zero external page navigation.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0292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CC71"/>
                </a:solidFill>
              </a:rPr>
              <a:t>✓  Trade-offs visible, not hidden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583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Every pick shows a ✓/✗/? checklist mapping
your chips to match status — no surprises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664208"/>
            <a:ext cx="5394960" cy="43891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</a:rPr>
              <a:t>Demo — Water-Bottle 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402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ADCFC"/>
                </a:solidFill>
              </a:rPr>
              <a:t>①  Need Discovery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5146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“Current bottle is heavy and leaks
in my gym bag.”  → water_bottle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ADCFC"/>
                </a:solidFill>
              </a:rPr>
              <a:t>②  Clarification (3 chips)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2918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Gym · Large capacity · (leak inferred
from 'leaks' in the input)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7947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ADCFC"/>
                </a:solidFill>
              </a:rPr>
              <a:t>③  3 Curated Picks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0690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Best Fit  Owala 24oz FreeSip
rules: gym_suitable · large_capacity_pref · leak_proof_match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ADCFC"/>
                </a:solidFill>
              </a:rPr>
              <a:t>④  Picks — labels + checklist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8463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Budget Pick: Zak 19oz [Cheapest · Most portable]
Stretch: Owala 32oz [Most capacity · Most leakproof]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34924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ADCFC"/>
                </a:solidFill>
              </a:rPr>
              <a:t>⑤  Refine + Compare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6235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‘larger’ → flips Best Fit to 32oz · diff card shown
Select 3, compare side-by-side with row-winners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199632"/>
            <a:ext cx="10469880" cy="384048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6236208"/>
            <a:ext cx="10469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ADCFC"/>
                </a:solidFill>
              </a:rPr>
              <a:t>Heuristic self-assessment against the seven capability gaps in our evaluation  ·  formal user study is future work (see Slide 11)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B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E2761"/>
                </a:solidFill>
              </a:rPr>
              <a:t>09  ·  LIMITATIONS, 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</a:rPr>
              <a:t>Honest Assessment · What This Proves ·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3657600" cy="4800600"/>
          </a:xfrm>
          <a:prstGeom prst="rect">
            <a:avLst/>
          </a:prstGeom>
          <a:solidFill>
            <a:srgbClr val="6B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212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64208"/>
            <a:ext cx="3657600" cy="48006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074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Conclusions &amp;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64208"/>
            <a:ext cx="3657600" cy="48006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36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⚠  Small dataset — 100 products,
    3 categories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⚠  No formal user study —
    heuristic evaluation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⚠  72/100 delivery values are
    estimated (flagged in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⚠  Rule-based ranking — weights
    inferred, not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✓  Decision support feasible
    end-to-end without an LLM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✓  Explanations grounded in the
    same rules the ranker 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✓  Visible preference continuity —
    every refine shows a diff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✓  Lifecycle layer is a prototype
    value-extension concept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✓  AI tools disclosed:
    Claude Opus 4.7 · Codex 5.5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→  Formal user study
    (SUS, task completion time)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→  Live retailer API
    for real-time 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→  ML-based ranking
    from interaction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→  Expand to more
    product 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→  Mobile-first UI
    redesign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AA8CC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ADCFC"/>
                </a:solidFill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91840"/>
            <a:ext cx="103327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1680" y="3429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Author: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4290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776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Institution: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977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California State University, East Bay (CSUEB)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262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Project: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526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Decision-Oriented Conversational Shopping 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0749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Runtime: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5074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React · FastAPI · Claude Opus 4.7 · Python · Playwright (ETL)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</a:rPr>
              <a:t>Built with: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5623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Claude Code (Opus 4.7)  ·  Codex GPT-5.5  (independent validation)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AB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2794</Words>
  <Application>Microsoft Macintosh PowerPoint</Application>
  <PresentationFormat>Custom</PresentationFormat>
  <Paragraphs>348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Chenghui Tan</cp:lastModifiedBy>
  <cp:revision>2</cp:revision>
  <dcterms:created xsi:type="dcterms:W3CDTF">2013-01-27T09:14:16Z</dcterms:created>
  <dcterms:modified xsi:type="dcterms:W3CDTF">2026-05-06T05:16:31Z</dcterms:modified>
  <cp:category/>
</cp:coreProperties>
</file>