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points for this slide:</a:t>
            </a:r>
          </a:p>
          <a:p>
            <a:r>
              <a:t>1. UNDERSTAND YOU — the assistant lets the user start from a frustration ('phone screen too small for cooking') instead of a category. Six chip questions per category — voice ecosystem, placement, screen size, privacy, etc. — are decision-relevant, not generic budget/urgency.</a:t>
            </a:r>
          </a:p>
          <a:p>
            <a:r>
              <a:t>2. REMEMBERS YOU — every refine turn captures a preference diff and renders it as a 'What changed' card. Implicit prefs are inferred from the free-text frustration ('leaks' -&gt; leak-resistant, 'heavy' -&gt; lightweight).</a:t>
            </a:r>
          </a:p>
          <a:p>
            <a:r>
              <a:t>3. CLEAR DECISIONS — the assistant returns 3 differentiated picks (Best Fit / Budget Pick / Stretch). Each pick carries a ✓/✗/? checklist mapping every chip the user picked to a match status. Compare view lays 2-3 finalists side-by-side with row-winners highlighted.</a:t>
            </a:r>
          </a:p>
          <a:p>
            <a:r>
              <a:t>4. LIFECYCLE LAYER — framed as a prototype concept that demonstrates the assistant continuing to add value after purchase (phone reminders, gym-bag checklist, replacement parts). Not a finished post-purchase platform.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Architecture talking points:</a:t>
            </a:r>
          </a:p>
          <a:p>
            <a:r>
              <a:t>- React frontend talks to FastAPI backend over REST. The five scenes are Need Discovery, Clarification, 3 Curated Picks, Why-this-fits, Lifecycle.</a:t>
            </a:r>
          </a:p>
          <a:p>
            <a:r>
              <a:t>- FastAPI orchestrates Claude (language) and the Recommendation Engine (deterministic). Eight endpoints including /save and /lifecycle.</a:t>
            </a:r>
          </a:p>
          <a:p>
            <a:r>
              <a:t>- Claude Opus 4.7 is used at three call sites: parse free-text input, write personal product copy, parse refine intent. Each has a deterministic fallback so the demo runs without an API key — regex classifier for input, rule-&gt;text dictionary for copy, regex parser for refine.</a:t>
            </a:r>
          </a:p>
          <a:p>
            <a:r>
              <a:t>- Recommendation Engine is plain Python: filter, score, rank, curated 3 picks, factual tradeoff labels. It is never an LLM call. This is the trust boundary that anchors auditability.</a:t>
            </a:r>
          </a:p>
          <a:p>
            <a:r>
              <a:t>- Product DB is products_clean.json with 100 products across the three categories. ETL via Playwright is offline batch.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Algorithm walkthrough (worked example):</a:t>
            </a:r>
          </a:p>
          <a:p>
            <a:r>
              <a:t>User intent: 'Reliable smart display, can wait on delivery, budget flexible'.</a:t>
            </a:r>
          </a:p>
          <a:p>
            <a:r>
              <a:t>GENERAL WEIGHTS (dynamic, derived from user priority): rating 50%, price 30%, delivery 20%.</a:t>
            </a:r>
          </a:p>
          <a:p>
            <a:r>
              <a:t>FEATURE WEIGHTS (smart_display): voice 40%, screen 30%, smart-home 20%, brand 10%.</a:t>
            </a:r>
          </a:p>
          <a:p>
            <a:r>
              <a:t>PRODUCTS:</a:t>
            </a:r>
          </a:p>
          <a:p>
            <a:r>
              <a:t>  Echo Show 8 ($79, 4.7 stars, 2-day) -&gt; Gen 85 / Feat 78 / Combined 82 -&gt; #1</a:t>
            </a:r>
          </a:p>
          <a:p>
            <a:r>
              <a:t>  Nest Hub 2nd Gen ($65, 4.5 stars, 3-day) -&gt; Gen 78 / Feat 82 / Combined 80 -&gt; #2</a:t>
            </a:r>
          </a:p>
          <a:p>
            <a:r>
              <a:t>  Echo Show 15 ($249) eliminated by $80 budget filter before scoring.</a:t>
            </a:r>
          </a:p>
          <a:p>
            <a:r>
              <a:t>Trust-boundary anchor: when the system must decide what to show, AI steps aside. Ranking is rule-based, reproducible, and auditable.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Supporting stack — talking points:</a:t>
            </a:r>
          </a:p>
          <a:p>
            <a:r>
              <a:t>ETL: scrapes 100 products via Playwright with anti-bot measures, normalises delivery copy ('arrives Mar 14' -&gt; 5 days). 72/100 delivery values were missing post-scrape and are flagged 'estimated'; descriptions for all 100 are flagged 'synthesised from title'. No silent fabrication.</a:t>
            </a:r>
          </a:p>
          <a:p/>
          <a:p>
            <a:r>
              <a:t>Attribute extraction: regex-based, runs at load time. Echo Show models map to known screen sizes (5 -&gt; 5.5", 8 -&gt; 8", 15 -&gt; 15.6"); ecosystems infer from Echo/Nest/HomePod keywords; bottle capacity from 'oz' patterns.</a:t>
            </a:r>
          </a:p>
          <a:p/>
          <a:p>
            <a:r>
              <a:t>Claude call sites in the runtime: parse free-text input, write personal copy, parse refine intent. All three have deterministic fallbacks so the demo runs without an API key. Ranking is never an LLM call.</a:t>
            </a:r>
          </a:p>
          <a:p/>
          <a:p>
            <a:r>
              <a:t>AI tooling across the build (disclosed honestly):</a:t>
            </a:r>
          </a:p>
          <a:p>
            <a:r>
              <a:t>- Runtime model:  Claude Opus 4.7 (anthropic SDK).</a:t>
            </a:r>
          </a:p>
          <a:p>
            <a:r>
              <a:t>- Pair-programming:  Claude Code agent on Opus 4.7 across the build.</a:t>
            </a:r>
          </a:p>
          <a:p>
            <a:r>
              <a:t>- Independent validation:  Codex GPT-5.5 was run as an independent technical reviewer to flag demo-safety issues.</a:t>
            </a:r>
          </a:p>
          <a:p>
            <a:r>
              <a:t>All three are named in the report's AI Contributions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demo script (matches the running app exactly):</a:t>
            </a:r>
          </a:p>
          <a:p/>
          <a:p>
            <a:r>
              <a:t>1. Type into Scene 1: 'current bottle is heavy and leaks in my gym bag'.</a:t>
            </a:r>
          </a:p>
          <a:p>
            <a:r>
              <a:t>   Observe: category auto-classified as water_bottle. The route also infers leak_proof_preferred=True from the word 'leaks'.</a:t>
            </a:r>
          </a:p>
          <a:p/>
          <a:p>
            <a:r>
              <a:t>2. Scene 2: pick three chips — Water Bottle / Gym / Large capacity. Skip the others. Hit 'See recommendations'.</a:t>
            </a:r>
          </a:p>
          <a:p/>
          <a:p>
            <a:r>
              <a:t>3. Scene 3: three differentiated picks render in a row.</a:t>
            </a:r>
          </a:p>
          <a:p>
            <a:r>
              <a:t>   - BEST FIT: Owala 24oz FreeSip — rules [gym_suitable, large_capacity_pref, leak_proof_match]. The Large-capacity preference is honoured (≥24oz) and leak-resistance is matched.</a:t>
            </a:r>
          </a:p>
          <a:p>
            <a:r>
              <a:t>   - BUDGET PICK: Zak Designs 19oz — labels [Cheapest, Most portable]. Honestly shows ✗ Large capacity (19oz) in its checklist.</a:t>
            </a:r>
          </a:p>
          <a:p>
            <a:r>
              <a:t>   - LARGE CAPACITY PICK: Owala 32oz FreeSip — labels [Most capacity, Most leakproof].</a:t>
            </a:r>
          </a:p>
          <a:p/>
          <a:p>
            <a:r>
              <a:t>4. Click 'See why' on Best Fit. Stage 4 quotes the user's frustration, lists the rule-grounded reasons, and shows the ✓/✗/? checklist of every preference.</a:t>
            </a:r>
          </a:p>
          <a:p/>
          <a:p>
            <a:r>
              <a:t>5. Refine: type 'larger'. The diff card shows size_preference None -&gt; large; Best Fit flips to 32oz. Demonstrates preference continuity.</a:t>
            </a:r>
          </a:p>
          <a:p/>
          <a:p>
            <a:r>
              <a:t>6. Click compare on 2-3 picks; the side-by-side overlay highlights the row-winner (lowest price, largest capacity, etc.) per attribute.</a:t>
            </a:r>
          </a:p>
          <a:p/>
          <a:p>
            <a:r>
              <a:t>7. Continue to Lifecycle (prototype). Phone reminders / gym-bag checklist / replacement parts — honest about what the bottle can/cannot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APPLIED RESEARCH PROJECT  ·  CAPSTONE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83080"/>
            <a:ext cx="111556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4400">
                <a:solidFill>
                  <a:srgbClr val="FFFFFF"/>
                </a:solidFill>
              </a:rPr>
              <a:t>A Decision-Oriented Conversational
Shopping Assistant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7033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600">
                <a:solidFill>
                  <a:srgbClr val="CADCFC"/>
                </a:solidFill>
              </a:rPr>
              <a:t>Preference Elicitation · Explainable Recommendations · Lifecycle Support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343400"/>
            <a:ext cx="107899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48056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500">
                <a:solidFill>
                  <a:srgbClr val="FFFFFF"/>
                </a:solidFill>
              </a:rPr>
              <a:t>Chenghui Tan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92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6B7AB8"/>
                </a:solidFill>
              </a:rPr>
              <a:t>California State University, East Bay  ·  April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6B7AB8"/>
                </a:solidFill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01  ·  INTRODUCTION &amp; BUSINESS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200">
                <a:solidFill>
                  <a:srgbClr val="1E2761"/>
                </a:solidFill>
              </a:rPr>
              <a:t>Information Retrieval  ≠  Decision Support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664208"/>
            <a:ext cx="5394960" cy="107899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865376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2000">
                <a:solidFill>
                  <a:srgbClr val="FFFFFF"/>
                </a:solidFill>
              </a:rPr>
              <a:t>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755648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Cognitive Overload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139696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Users must mentally juggle all constraints and trade-offs themselves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2834640"/>
            <a:ext cx="5394960" cy="107899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035808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2000">
                <a:solidFill>
                  <a:srgbClr val="FFFFFF"/>
                </a:solidFill>
              </a:rPr>
              <a:t>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926080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Vague, Evolving Needs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310128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Users rarely know exactly what they want when they start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005072"/>
            <a:ext cx="5394960" cy="107899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206240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2000">
                <a:solidFill>
                  <a:srgbClr val="FFFFFF"/>
                </a:solidFill>
              </a:rPr>
              <a:t>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096512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Preferences Get Overwritten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48056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Add a new constraint — your earlier choices are erased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5175504"/>
            <a:ext cx="5394960" cy="107899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376672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2000">
                <a:solidFill>
                  <a:srgbClr val="FFFFFF"/>
                </a:solidFill>
              </a:rPr>
              <a:t>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266944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Missing Critical Info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5650992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Delivery time, promos, and availability hidden or absent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35040" y="1664208"/>
            <a:ext cx="5715000" cy="468172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99632" y="1783080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CADCFC"/>
                </a:solidFill>
              </a:rPr>
              <a:t>The Decision Burden Falls on the User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9632" y="2395728"/>
            <a:ext cx="5394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200">
                <a:solidFill>
                  <a:srgbClr val="FFFFFF"/>
                </a:solidFill>
              </a:rPr>
              <a:t>Existing tools assume shopping is a search problem.
In reality, users face a decision problem —
and no platform is built to help them solve 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566160"/>
            <a:ext cx="521208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99632" y="370332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·  Decision fatigue increases with more options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99632" y="429768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·  Users guess, settle, or abandon purchases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9632" y="489204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·  Post-purchase regret when trade-offs aren't clear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99632" y="548640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·  Trust erodes when recommendations have no rationale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0" y="5943600"/>
            <a:ext cx="5715000" cy="384048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72200" y="597103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CADCFC"/>
                </a:solidFill>
              </a:rPr>
              <a:t>→  We built a system that addresses the decision — not just the search.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9AA8CC"/>
                </a:solidFill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02  ·  THE MARKET &amp; THE GAPS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400">
                <a:solidFill>
                  <a:srgbClr val="FFFFFF"/>
                </a:solidFill>
              </a:rPr>
              <a:t>Existing Platforms — Where They Fall Short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27632"/>
            <a:ext cx="2651760" cy="109728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1664208"/>
            <a:ext cx="24505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Google
Shopping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212848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000">
                <a:solidFill>
                  <a:srgbClr val="CADCFC"/>
                </a:solidFill>
              </a:rPr>
              <a:t>Search &amp; filter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10712" y="1627632"/>
            <a:ext cx="2651760" cy="109728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664208"/>
            <a:ext cx="24505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Amazon
Rufus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212848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000">
                <a:solidFill>
                  <a:srgbClr val="CADCFC"/>
                </a:solidFill>
              </a:rPr>
              <a:t>AI chat in Amazon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18504" y="1627632"/>
            <a:ext cx="2651760" cy="109728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1664208"/>
            <a:ext cx="24505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ChatGPT
Shopping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2212848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000">
                <a:solidFill>
                  <a:srgbClr val="CADCFC"/>
                </a:solidFill>
              </a:rPr>
              <a:t>Natural language AI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26296" y="1627632"/>
            <a:ext cx="2651760" cy="1097280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36024" y="1664208"/>
            <a:ext cx="24505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Perplexity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36024" y="2212848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000">
                <a:solidFill>
                  <a:srgbClr val="CADCFC"/>
                </a:solidFill>
              </a:rPr>
              <a:t>AI answer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8346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CADCFC"/>
                </a:solidFill>
              </a:rPr>
              <a:t>KEY GAPS ACROSS THE LANDSCAPE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218688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291840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Overwrites preferences mid-conversation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70832" y="3218688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62272" y="3291840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Assumes you already know what you want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38744" y="3218688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30184" y="3291840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Missing delivery, promos &amp; availability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803904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877056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Text heavy — low information density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70832" y="3803904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62272" y="3877056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No preference continuity across turns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38744" y="3803904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30184" y="3877056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Multiple steps to reach product page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389120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462272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Separates reasoning from shopping flow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70832" y="4389120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62272" y="4462272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Opaque ranking — no explanation why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38744" y="4389120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30184" y="4462272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Not built for first-time / cold-start users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440680"/>
            <a:ext cx="11201400" cy="53035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5440680"/>
            <a:ext cx="112014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CADCFC"/>
                </a:solidFill>
              </a:rPr>
              <a:t>→  The common thread: no platform treats shopping as a decision problem.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6144768"/>
            <a:ext cx="3429000" cy="457200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2648" y="6172200"/>
            <a:ext cx="32278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Search-first tools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648" y="6355080"/>
            <a:ext cx="32278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FFFFFF"/>
                </a:solidFill>
              </a:rPr>
              <a:t>→  retrieve results,  not decisions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023360" y="6144768"/>
            <a:ext cx="3429000" cy="457200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33088" y="6172200"/>
            <a:ext cx="32278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AI chatbots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33088" y="6355080"/>
            <a:ext cx="32278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FFFFFF"/>
                </a:solidFill>
              </a:rPr>
              <a:t>→  converse,  but don't structure trade-offs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543800" y="6144768"/>
            <a:ext cx="3429000" cy="457200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53528" y="6172200"/>
            <a:ext cx="32278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All surveyed platforms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53528" y="6355080"/>
            <a:ext cx="32278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FFFFFF"/>
                </a:solidFill>
              </a:rPr>
              <a:t>→  no preference continuity across turns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6B7AB8"/>
                </a:solidFill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03  ·  COMPETITIVE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200">
                <a:solidFill>
                  <a:srgbClr val="1E2761"/>
                </a:solidFill>
              </a:rPr>
              <a:t>Capability Comparison Across Platforms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591056"/>
            <a:ext cx="2898648" cy="5303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64208"/>
            <a:ext cx="2834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FFFFFF"/>
                </a:solidFill>
              </a:rPr>
              <a:t>Capability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591056"/>
            <a:ext cx="1435608" cy="53035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1664208"/>
            <a:ext cx="1371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CADCFC"/>
                </a:solidFill>
              </a:rPr>
              <a:t>Google
Shopping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00600" y="1591056"/>
            <a:ext cx="1435608" cy="53035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1664208"/>
            <a:ext cx="1371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CADCFC"/>
                </a:solidFill>
              </a:rPr>
              <a:t>Amazon
Rufus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591056"/>
            <a:ext cx="1435608" cy="53035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664208"/>
            <a:ext cx="1371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CADCFC"/>
                </a:solidFill>
              </a:rPr>
              <a:t>ChatGPT
Shopping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26680" y="1591056"/>
            <a:ext cx="1435608" cy="53035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1664208"/>
            <a:ext cx="1371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CADCFC"/>
                </a:solidFill>
              </a:rPr>
              <a:t>Perplexity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89720" y="1591056"/>
            <a:ext cx="1618488" cy="53035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1664208"/>
            <a:ext cx="1554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CADCFC"/>
                </a:solidFill>
              </a:rPr>
              <a:t>Our
System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157984"/>
            <a:ext cx="2898648" cy="493776"/>
          </a:xfrm>
          <a:prstGeom prst="rect">
            <a:avLst/>
          </a:prstGeom>
          <a:solidFill>
            <a:srgbClr val="D6D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2295144"/>
            <a:ext cx="2788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Preference Elicitation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37560" y="2157984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560" y="224942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00600" y="2157984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0600" y="224942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400">
                <a:solidFill>
                  <a:srgbClr val="6B7AB8"/>
                </a:solidFill>
              </a:rPr>
              <a:t>Partial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2157984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3640" y="224942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400">
                <a:solidFill>
                  <a:srgbClr val="6B7AB8"/>
                </a:solidFill>
              </a:rPr>
              <a:t>Partial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26680" y="2157984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26680" y="224942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89720" y="2157984"/>
            <a:ext cx="161848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9720" y="2249424"/>
            <a:ext cx="16184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2688336"/>
            <a:ext cx="2898648" cy="493776"/>
          </a:xfrm>
          <a:prstGeom prst="rect">
            <a:avLst/>
          </a:prstGeom>
          <a:solidFill>
            <a:srgbClr val="D6D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2825496"/>
            <a:ext cx="2788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Decision Modeling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37560" y="2688336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37560" y="277977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00600" y="2688336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00600" y="277977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63640" y="2688336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63640" y="277977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26680" y="2688336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26680" y="277977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89720" y="2688336"/>
            <a:ext cx="161848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89720" y="2779776"/>
            <a:ext cx="16184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3218688"/>
            <a:ext cx="2898648" cy="493776"/>
          </a:xfrm>
          <a:prstGeom prst="rect">
            <a:avLst/>
          </a:prstGeom>
          <a:solidFill>
            <a:srgbClr val="D6D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355848"/>
            <a:ext cx="2788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Explainable Recommendations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337560" y="3218688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37560" y="3310128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800600" y="3218688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00600" y="3310128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63640" y="3218688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63640" y="3310128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400">
                <a:solidFill>
                  <a:srgbClr val="6B7AB8"/>
                </a:solidFill>
              </a:rPr>
              <a:t>Partial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726680" y="3218688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26680" y="3310128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189720" y="3218688"/>
            <a:ext cx="161848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189720" y="3310128"/>
            <a:ext cx="16184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11480" y="3749040"/>
            <a:ext cx="2898648" cy="493776"/>
          </a:xfrm>
          <a:prstGeom prst="rect">
            <a:avLst/>
          </a:prstGeom>
          <a:solidFill>
            <a:srgbClr val="D6D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2920" y="3886200"/>
            <a:ext cx="2788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Delivery / Promo Info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337560" y="3749040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337560" y="3840480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400">
                <a:solidFill>
                  <a:srgbClr val="6B7AB8"/>
                </a:solidFill>
              </a:rPr>
              <a:t>Partial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00600" y="3749040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800600" y="3840480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63640" y="3749040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263640" y="3840480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726680" y="3749040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726680" y="3840480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189720" y="3749040"/>
            <a:ext cx="161848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189720" y="3840480"/>
            <a:ext cx="16184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4279392"/>
            <a:ext cx="2898648" cy="493776"/>
          </a:xfrm>
          <a:prstGeom prst="rect">
            <a:avLst/>
          </a:prstGeom>
          <a:solidFill>
            <a:srgbClr val="D6D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4416552"/>
            <a:ext cx="2788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Preference Continuity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337560" y="4279392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337560" y="4370832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800600" y="4279392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800600" y="4370832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400">
                <a:solidFill>
                  <a:srgbClr val="6B7AB8"/>
                </a:solidFill>
              </a:rPr>
              <a:t>Partial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63640" y="4279392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63640" y="4370832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400">
                <a:solidFill>
                  <a:srgbClr val="6B7AB8"/>
                </a:solidFill>
              </a:rPr>
              <a:t>Partial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726680" y="4279392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726680" y="4370832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189720" y="4279392"/>
            <a:ext cx="161848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189720" y="4370832"/>
            <a:ext cx="16184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11480" y="4809744"/>
            <a:ext cx="2898648" cy="493776"/>
          </a:xfrm>
          <a:prstGeom prst="rect">
            <a:avLst/>
          </a:prstGeom>
          <a:solidFill>
            <a:srgbClr val="D6D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02920" y="4946904"/>
            <a:ext cx="2788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Side-by-Side Comparison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337560" y="4809744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337560" y="490118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800600" y="4809744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800600" y="490118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263640" y="4809744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263640" y="490118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726680" y="4809744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726680" y="490118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189720" y="4809744"/>
            <a:ext cx="161848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189720" y="4901184"/>
            <a:ext cx="16184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11480" y="5340096"/>
            <a:ext cx="2898648" cy="493776"/>
          </a:xfrm>
          <a:prstGeom prst="rect">
            <a:avLst/>
          </a:prstGeom>
          <a:solidFill>
            <a:srgbClr val="D6D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02920" y="5477256"/>
            <a:ext cx="2788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Lifecycle Support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337560" y="5340096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337560" y="543153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800600" y="5340096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800600" y="543153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263640" y="5340096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263640" y="543153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726680" y="5340096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726680" y="543153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189720" y="5340096"/>
            <a:ext cx="161848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9189720" y="5431536"/>
            <a:ext cx="16184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11480" y="6080760"/>
            <a:ext cx="11338560" cy="39319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94360" y="6117336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CADCFC"/>
                </a:solidFill>
              </a:rPr>
              <a:t>→  In our self-evaluation against these platforms, our system addresses all seven gaps.  Here is how we built it.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9AA8CC"/>
                </a:solidFill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04  ·  OUR PRODUCT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400">
                <a:solidFill>
                  <a:srgbClr val="FFFFFF"/>
                </a:solidFill>
              </a:rPr>
              <a:t>Your Personal AI Shopping Assistant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64208"/>
            <a:ext cx="3474720" cy="4114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28800" y="1828800"/>
            <a:ext cx="91440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182880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2400">
                <a:solidFill>
                  <a:srgbClr val="FFFFFF"/>
                </a:solidFill>
              </a:rPr>
              <a:t>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670048"/>
            <a:ext cx="3273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Understand You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23697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23697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CADCFC"/>
                </a:solidFill>
              </a:rPr>
              <a:t>Frustration →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87705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87705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CADCFC"/>
                </a:solidFill>
              </a:rPr>
              <a:t>Decision-Relevant Q&amp;A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23036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CADCFC"/>
                </a:solidFill>
              </a:rPr>
              <a:t>ecosystem · placement · privacy · size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34840" y="1664208"/>
            <a:ext cx="3474720" cy="411480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15000" y="1828800"/>
            <a:ext cx="91440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15000" y="182880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2400">
                <a:solidFill>
                  <a:srgbClr val="FFFFFF"/>
                </a:solidFill>
              </a:rPr>
              <a:t>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4568" y="2670048"/>
            <a:ext cx="3273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Remembers You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63440" y="323697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63440" y="323697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CADCFC"/>
                </a:solidFill>
              </a:rPr>
              <a:t>Preference Continuity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63440" y="387705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63440" y="387705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CADCFC"/>
                </a:solidFill>
              </a:rPr>
              <a:t>Visible Diff on Refine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523036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CADCFC"/>
                </a:solidFill>
              </a:rPr>
              <a:t>“leaks” → leak-proof  ·  “heavy” → lightweight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21040" y="1664208"/>
            <a:ext cx="3474720" cy="411480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601200" y="1828800"/>
            <a:ext cx="91440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0" y="182880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2400">
                <a:solidFill>
                  <a:srgbClr val="FFFFFF"/>
                </a:solidFill>
              </a:rPr>
              <a:t>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30768" y="2670048"/>
            <a:ext cx="3273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Clear Decisions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49640" y="323697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49640" y="323697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CADCFC"/>
                </a:solidFill>
              </a:rPr>
              <a:t>3 Curated Picks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49640" y="387705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49640" y="387705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CADCFC"/>
                </a:solidFill>
              </a:rPr>
              <a:t>Why-this-fits  ·  Compare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523036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CADCFC"/>
                </a:solidFill>
              </a:rPr>
              <a:t>Best Fit · Budget Pick · Stretch Pick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925312"/>
            <a:ext cx="11109960" cy="530352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5925312"/>
            <a:ext cx="11109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FFFFFF"/>
                </a:solidFill>
              </a:rPr>
              <a:t>🏠  Lifecycle Layer (prototype)  —  Realistic post-purchase support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6B7AB8"/>
                </a:solidFill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05A  ·  CONCEPTUAL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200">
                <a:solidFill>
                  <a:srgbClr val="1E2761"/>
                </a:solidFill>
              </a:rPr>
              <a:t>Five-Layer Decision Support Framework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00200"/>
            <a:ext cx="2011680" cy="34747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88720" y="1664208"/>
            <a:ext cx="54864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66420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CADCFC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24028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CADCFC"/>
                </a:solidFill>
              </a:rPr>
              <a:t>Preference
Elicitation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154680"/>
            <a:ext cx="18105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Transforms vague needs
into structured inputs
via conversational Q&amp;A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87168" y="265176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800">
                <a:solidFill>
                  <a:srgbClr val="1E2761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24912" y="1600200"/>
            <a:ext cx="2011680" cy="34747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56432" y="1664208"/>
            <a:ext cx="54864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56432" y="166420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CADCFC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16352" y="224028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CADCFC"/>
                </a:solidFill>
              </a:rPr>
              <a:t>Decision
Modeling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3154680"/>
            <a:ext cx="18105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Multi-criteria model:
hard constraints +
weighted soft preferences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265176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800">
                <a:solidFill>
                  <a:srgbClr val="1E2761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92624" y="1600200"/>
            <a:ext cx="2011680" cy="34747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24144" y="1664208"/>
            <a:ext cx="54864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24144" y="166420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CADCFC"/>
                </a:solidFill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4064" y="224028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CADCFC"/>
                </a:solidFill>
              </a:rPr>
              <a:t>Recommendation
&amp; Ranking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02352" y="3154680"/>
            <a:ext cx="18105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Constraint-aware ranking
of feasible products;
no click-prediction bias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22592" y="265176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800">
                <a:solidFill>
                  <a:srgbClr val="1E2761"/>
                </a:solidFill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60336" y="1600200"/>
            <a:ext cx="2011680" cy="34747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91856" y="1664208"/>
            <a:ext cx="54864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91856" y="166420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CADCFC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1776" y="224028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CADCFC"/>
                </a:solidFill>
              </a:rPr>
              <a:t>Explainability
&amp; Interaction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70064" y="3154680"/>
            <a:ext cx="18105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Why this fits, what
you give up — trade-offs
made transparent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90304" y="265176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800">
                <a:solidFill>
                  <a:srgbClr val="1E2761"/>
                </a:solidFill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28048" y="1600200"/>
            <a:ext cx="2011680" cy="34747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259568" y="1664208"/>
            <a:ext cx="54864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59568" y="166420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CADCFC"/>
                </a:solidFill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19488" y="224028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CADCFC"/>
                </a:solidFill>
              </a:rPr>
              <a:t>Lifecycle
Support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37776" y="3154680"/>
            <a:ext cx="18105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Post-purchase value:
meal planning, scheduling,
decision reinforcement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100">
                <a:solidFill>
                  <a:srgbClr val="6B7AB8"/>
                </a:solidFill>
              </a:rPr>
              <a:t>End-to-end: vague need → structured decision → ranked products → explained trade-offs → lifecycle value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9AA8CC"/>
                </a:solidFill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05B  ·  RUNTIME ARCHITECTURE — TECH &amp; INTERACTIONS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400">
                <a:solidFill>
                  <a:srgbClr val="FFFFFF"/>
                </a:solidFill>
              </a:rPr>
              <a:t>Components &amp; How They Communicate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719072"/>
            <a:ext cx="256032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801368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FFFFFF"/>
                </a:solidFill>
              </a:rPr>
              <a:t>React Frontend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2249424"/>
            <a:ext cx="234086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Stage 1 — Need Discovery
Stage 2 — Clarification Q&amp;A
Stage 3 — 3 Curated Picks
Stage 4 — Why This Fits
Stage 5 — Lifecycle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719072"/>
            <a:ext cx="3383280" cy="182880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1801368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FFFFFF"/>
                </a:solidFill>
              </a:rPr>
              <a:t>FastAPI Backend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2249424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100">
                <a:solidFill>
                  <a:srgbClr val="CADCFC"/>
                </a:solidFill>
              </a:rPr>
              <a:t>/start  /answer  /recommend
/refine  /save  /lifecycle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2798064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000">
                <a:solidFill>
                  <a:srgbClr val="FFFFFF"/>
                </a:solidFill>
              </a:rPr>
              <a:t>Orchestrates all logic + deterministic
fallbacks (regex refine, classifier)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23960" y="1719072"/>
            <a:ext cx="3063240" cy="182880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15400" y="1801368"/>
            <a:ext cx="2880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FFFFFF"/>
                </a:solidFill>
              </a:rPr>
              <a:t>Claude Opus 4.7  (AI)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33688" y="2249424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Parse free-text input
Write personal copy
Parse refine intent
(deterministic fallback per call)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4114800"/>
            <a:ext cx="2560320" cy="1645920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1840" y="4197096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FFFFFF"/>
                </a:solidFill>
              </a:rPr>
              <a:t>Recommendation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0128" y="4645152"/>
            <a:ext cx="234086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50">
                <a:solidFill>
                  <a:srgbClr val="FFFFFF"/>
                </a:solidFill>
              </a:rPr>
              <a:t>Filter · score · rank
Curated 3 picks
Tradeoff labels (factual)
Deterministic — no AI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4114800"/>
            <a:ext cx="2560320" cy="164592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0" y="4197096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FFFFFF"/>
                </a:solidFill>
              </a:rPr>
              <a:t>Product DB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44768" y="4645152"/>
            <a:ext cx="234086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50">
                <a:solidFill>
                  <a:srgbClr val="FFFFFF"/>
                </a:solidFill>
              </a:rPr>
              <a:t>products_clean.json
100 products · 3 categories
Smart Display · Water Bottle
Kitchen Organizer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69680" y="4114800"/>
            <a:ext cx="2743200" cy="1645920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0" y="4197096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CADCFC"/>
                </a:solidFill>
              </a:rPr>
              <a:t>ETL Pipeline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4645152"/>
            <a:ext cx="252374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50">
                <a:solidFill>
                  <a:srgbClr val="FFFFFF"/>
                </a:solidFill>
              </a:rPr>
              <a:t>Playwright scrapers
Amazon · Target
Normalize &amp; deduplicate
Offline batch feed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80360" y="2505456"/>
            <a:ext cx="137160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50792" y="2395728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CADCFC"/>
                </a:solidFill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80360" y="229514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6B7AB8"/>
                </a:solidFill>
              </a:rPr>
              <a:t>REST calls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0360" y="2724912"/>
            <a:ext cx="137160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25496" y="263347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CADCFC"/>
                </a:solidFill>
              </a:rPr>
              <a:t>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80360" y="278892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6B7AB8"/>
                </a:solidFill>
              </a:rPr>
              <a:t>results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35240" y="2505456"/>
            <a:ext cx="118872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22792" y="2395728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CADCFC"/>
                </a:solidFill>
              </a:rPr>
              <a:t>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35240" y="2295144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6B7AB8"/>
                </a:solidFill>
              </a:rPr>
              <a:t>msg + context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635240" y="2724912"/>
            <a:ext cx="118872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80376" y="263347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CADCFC"/>
                </a:solidFill>
              </a:rPr>
              <a:t>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35240" y="2788920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6B7AB8"/>
                </a:solidFill>
              </a:rPr>
              <a:t>AI response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30900" y="3547872"/>
            <a:ext cx="25400" cy="283464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80560" y="3818636"/>
            <a:ext cx="283464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467860" y="3831336"/>
            <a:ext cx="25400" cy="283464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89120" y="3913632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CADCFC"/>
                </a:solidFill>
              </a:rPr>
              <a:t>↓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02500" y="3831336"/>
            <a:ext cx="25400" cy="283464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223760" y="3913632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CADCFC"/>
                </a:solidFill>
              </a:rPr>
              <a:t>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91840" y="3602736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6B7AB8"/>
                </a:solidFill>
              </a:rPr>
              <a:t>profile + products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386791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6B7AB8"/>
                </a:solidFill>
              </a:rPr>
              <a:t>ranked list 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40880" y="3602736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6B7AB8"/>
                </a:solidFill>
              </a:rPr>
              <a:t>query feasible set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595360" y="4925060"/>
            <a:ext cx="27432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40496" y="4791456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CADCFC"/>
                </a:solidFill>
              </a:rPr>
              <a:t>←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95360" y="4709160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6B7AB8"/>
                </a:solidFill>
              </a:rPr>
              <a:t>offline feed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6B7AB8"/>
                </a:solidFill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06  ·  RECOMMENDATION ALGORITHM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000">
                <a:solidFill>
                  <a:srgbClr val="1E2761"/>
                </a:solidFill>
              </a:rPr>
              <a:t>The Deterministic Core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53312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44752"/>
            <a:ext cx="3730752" cy="384048"/>
          </a:xfrm>
          <a:prstGeom prst="rect">
            <a:avLst/>
          </a:prstGeom>
          <a:solidFill>
            <a:srgbClr val="6B7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499616"/>
            <a:ext cx="37307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FFFFFF"/>
                </a:solidFill>
              </a:rPr>
              <a:t>🤖  Claude — Free-Text Parsing (with regex fallback)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15384" y="1444752"/>
            <a:ext cx="3730752" cy="384048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15384" y="1499616"/>
            <a:ext cx="37307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FFFFFF"/>
                </a:solidFill>
              </a:rPr>
              <a:t>⚙️  Rule-Based — Ranking · Picks · Labels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19288" y="1444752"/>
            <a:ext cx="3730752" cy="384048"/>
          </a:xfrm>
          <a:prstGeom prst="rect">
            <a:avLst/>
          </a:prstGeom>
          <a:solidFill>
            <a:srgbClr val="6B7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19288" y="1499616"/>
            <a:ext cx="37307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FFFFFF"/>
                </a:solidFill>
              </a:rPr>
              <a:t>🤖  Claude — Personal Copy (with grounded fallback)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1993392"/>
            <a:ext cx="5257800" cy="8686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" y="2048256"/>
            <a:ext cx="50566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CADCFC"/>
                </a:solidFill>
              </a:rPr>
              <a:t>① Filter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" y="2359152"/>
            <a:ext cx="505663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CADCFC"/>
                </a:solidFill>
              </a:rPr>
              <a:t>Apply hard constraints (budget, delivery, no-camera).
Non-matches drop out before scoring.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48940" y="2816352"/>
            <a:ext cx="2011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1E2761"/>
                </a:solidFill>
              </a:rPr>
              <a:t>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990088"/>
            <a:ext cx="5257800" cy="86868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" y="3044952"/>
            <a:ext cx="50566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</a:rPr>
              <a:t>② Score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" y="3355848"/>
            <a:ext cx="505663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General: rating · price · delivery (weights from priority)
Feature: category rules (voice · screen · privacy · ...)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48940" y="3813048"/>
            <a:ext cx="2011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1E2761"/>
                </a:solidFill>
              </a:rPr>
              <a:t>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986784"/>
            <a:ext cx="5257800" cy="868680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1208" y="4041648"/>
            <a:ext cx="50566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</a:rPr>
              <a:t>③ Rank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" y="4352544"/>
            <a:ext cx="505663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Combined = General + category bonus.
Sort top-N descending.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48940" y="4809744"/>
            <a:ext cx="2011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1E2761"/>
                </a:solidFill>
              </a:rPr>
              <a:t>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4983480"/>
            <a:ext cx="5257800" cy="86868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208" y="5038344"/>
            <a:ext cx="50566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</a:rPr>
              <a:t>④ Curate 3 Picks + Labels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" y="5349240"/>
            <a:ext cx="505663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Best Fit · Budget Pick · Stretch.
Factual labels (Cheapest, Most leakproof) — only when true.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1993392"/>
            <a:ext cx="5852160" cy="420624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80760" y="202996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FFFFFF"/>
                </a:solidFill>
              </a:rPr>
              <a:t>Example — User intent: “Reliable smart display · Can wait on delivery · Budget flexible”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80760" y="250545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GENERAL WEIGHTS  —  dynamic, derived from this user's priorities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80760" y="2743200"/>
            <a:ext cx="1828800" cy="329184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80760" y="276148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FFFFFF"/>
                </a:solidFill>
              </a:rPr>
              <a:t>Rating  50%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64424" y="2743200"/>
            <a:ext cx="1828800" cy="329184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64424" y="276148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FFFFFF"/>
                </a:solidFill>
              </a:rPr>
              <a:t>Price  30%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848088" y="2743200"/>
            <a:ext cx="1828800" cy="329184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48088" y="276148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FFFFFF"/>
                </a:solidFill>
              </a:rPr>
              <a:t>Delivery  20%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0760" y="3163824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FEATURE WEIGHTS  —  category-specific  (smart displays)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3401568"/>
            <a:ext cx="1353312" cy="329184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80760" y="3419856"/>
            <a:ext cx="13533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50">
                <a:solidFill>
                  <a:srgbClr val="CADCFC"/>
                </a:solidFill>
              </a:rPr>
              <a:t>Voice  40%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88936" y="3401568"/>
            <a:ext cx="1353312" cy="329184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88936" y="3419856"/>
            <a:ext cx="13533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50">
                <a:solidFill>
                  <a:srgbClr val="CADCFC"/>
                </a:solidFill>
              </a:rPr>
              <a:t>Screen  30%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897112" y="3401568"/>
            <a:ext cx="1353312" cy="329184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97112" y="3419856"/>
            <a:ext cx="13533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50">
                <a:solidFill>
                  <a:srgbClr val="CADCFC"/>
                </a:solidFill>
              </a:rPr>
              <a:t>Smart Home  20%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305288" y="3401568"/>
            <a:ext cx="1353312" cy="329184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305288" y="3419856"/>
            <a:ext cx="13533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50">
                <a:solidFill>
                  <a:srgbClr val="CADCFC"/>
                </a:solidFill>
              </a:rPr>
              <a:t>Brand  10%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89320" y="3840480"/>
            <a:ext cx="5852160" cy="658368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989320" y="3840480"/>
            <a:ext cx="1097280" cy="658368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07608" y="4041648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00">
                <a:solidFill>
                  <a:srgbClr val="FFFFFF"/>
                </a:solidFill>
              </a:rPr>
              <a:t>✓  PASS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78040" y="387705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1A1A2E"/>
                </a:solidFill>
              </a:rPr>
              <a:t>Amazon Echo Show 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78040" y="4169664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6B7AB8"/>
                </a:solidFill>
              </a:rPr>
              <a:t>$79 · 4.7★ · 2-day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21240" y="389534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50">
                <a:solidFill>
                  <a:srgbClr val="1A1A2E"/>
                </a:solidFill>
              </a:rPr>
              <a:t>Gen: 85  ·  Feat: 78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21240" y="416966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 i="0" sz="1000">
                <a:solidFill>
                  <a:srgbClr val="1E2761"/>
                </a:solidFill>
              </a:rPr>
              <a:t>Combined: 82   →  #1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89320" y="4553712"/>
            <a:ext cx="5852160" cy="658368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989320" y="4553712"/>
            <a:ext cx="1097280" cy="658368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007608" y="4754880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00">
                <a:solidFill>
                  <a:srgbClr val="FFFFFF"/>
                </a:solidFill>
              </a:rPr>
              <a:t>✓  PASS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78040" y="4590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1A1A2E"/>
                </a:solidFill>
              </a:rPr>
              <a:t>Google Nest Hub (2nd Gen)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78040" y="4882896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6B7AB8"/>
                </a:solidFill>
              </a:rPr>
              <a:t>$65 · 4.5★ · 3-day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921240" y="460857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50">
                <a:solidFill>
                  <a:srgbClr val="1A1A2E"/>
                </a:solidFill>
              </a:rPr>
              <a:t>Gen: 78  ·  Feat: 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21240" y="488289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 i="0" sz="1000">
                <a:solidFill>
                  <a:srgbClr val="1E2761"/>
                </a:solidFill>
              </a:rPr>
              <a:t>Combined: 80   →  #2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989320" y="5266944"/>
            <a:ext cx="5852160" cy="658368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989320" y="5266944"/>
            <a:ext cx="1097280" cy="65836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007608" y="546811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00">
                <a:solidFill>
                  <a:srgbClr val="FFFFFF"/>
                </a:solidFill>
              </a:rPr>
              <a:t>✗  ELIMINATED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178040" y="53035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1A1A2E"/>
                </a:solidFill>
              </a:rPr>
              <a:t>Amazon Echo Show 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178040" y="5596128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6B7AB8"/>
                </a:solidFill>
              </a:rPr>
              <a:t>$249 · 4.8★ · 2-day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21240" y="53218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50">
                <a:solidFill>
                  <a:srgbClr val="1A1A2E"/>
                </a:solidFill>
              </a:rPr>
              <a:t>$249 &gt; $80 budget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921240" y="559612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 i="0" sz="1000">
                <a:solidFill>
                  <a:srgbClr val="E74C3C"/>
                </a:solidFill>
              </a:rPr>
              <a:t>Eliminated before scoring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5989320"/>
            <a:ext cx="1133856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6016752"/>
            <a:ext cx="11155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CADCFC"/>
                </a:solidFill>
              </a:rPr>
              <a:t>When the system must decide what to show the user, AI steps aside.  Ranking is rule-based, reproducible, and auditable — trust is anchored here.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9AA8CC"/>
                </a:solidFill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07  ·  DATA, AI &amp; FRONTEND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800">
                <a:solidFill>
                  <a:srgbClr val="1E2761"/>
                </a:solidFill>
              </a:rPr>
              <a:t>The Supporting Stack — What Feeds the Decision Engine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664208"/>
            <a:ext cx="5577840" cy="226771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37360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ETL  +  Provenance Flags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39696"/>
            <a:ext cx="53492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FFFFFF"/>
                </a:solidFill>
              </a:rPr>
              <a:t>Playwright scrapers  ·  Amazon · Target
Anti-bot stealth · normalize · dedup
Each field flagged: scraped vs estimated
vs synthesised — no silent fabrication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1208" y="3621024"/>
            <a:ext cx="5349240" cy="25603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363016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100 products  ·  3 categories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1664208"/>
            <a:ext cx="5577840" cy="226771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36792" y="1737360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Attribute Extraction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2139696"/>
            <a:ext cx="53492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FFFFFF"/>
                </a:solidFill>
              </a:rPr>
              <a:t>screen_inches · ecosystems · has_camera
mounting · capacity_oz · bottle_material
drinking_style · organiser_material
Pulled from titles at load time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3621024"/>
            <a:ext cx="5349240" cy="25603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63016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feeds ranker, picks, compare view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4041648"/>
            <a:ext cx="5577840" cy="2267712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14800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Claude Opus 4.7  —  3 Call Sites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517136"/>
            <a:ext cx="53492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FFFFFF"/>
                </a:solidFill>
              </a:rPr>
              <a:t>①  Parse free-text input
②  Write personal product copy
③  Parse refine intent
Every call has a deterministic fallback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1208" y="5998464"/>
            <a:ext cx="5349240" cy="25603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" y="600760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Never on the ranking path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9632" y="4041648"/>
            <a:ext cx="5577840" cy="2267712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36792" y="4114800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React Frontend  —  5 Stages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36792" y="4517136"/>
            <a:ext cx="53492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FFFFFF"/>
                </a:solidFill>
              </a:rPr>
              <a:t>①  Need Discovery
②  Clarification Q&amp;A
③  3 Curated Picks
④  Why This Fits  (rule-grounded checklist)
⑤  Lifecycle  (prototype value-extension)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5998464"/>
            <a:ext cx="5349240" cy="25603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600760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+ Compare overlay · Save-for-later · Diff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6446520"/>
            <a:ext cx="11338560" cy="32918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464808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CADCFC"/>
                </a:solidFill>
              </a:rPr>
              <a:t>AI tooling:  Runtime  Claude Opus 4.7   ·   Build  Claude Code (Opus 4.7)   ·   Independent validation  Codex GPT-5.5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9AA8CC"/>
                </a:solidFill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08  ·  RESULTS &amp;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400">
                <a:solidFill>
                  <a:srgbClr val="FFFFFF"/>
                </a:solidFill>
              </a:rPr>
              <a:t>Capability Validation &amp; Scenario Walkthrough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64208"/>
            <a:ext cx="5669280" cy="43891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783080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Capability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28600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2ECC71"/>
                </a:solidFill>
              </a:rPr>
              <a:t>✓  Capability gaps (self-evaluation)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615184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7 of 7 gaps addressed in our walkthroughs;
no surveyed platform addressed more than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20040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2ECC71"/>
                </a:solidFill>
              </a:rPr>
              <a:t>✓  Decision-critical attributes inline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529584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Screen size, ecosystem, camera, capacity,
material — surfaced on every pick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11480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2ECC71"/>
                </a:solidFill>
              </a:rPr>
              <a:t>✓  End-to-end in five scenes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443984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Need → clarify → 3 picks → why-this-fits →
lifecycle. Zero external page navigation.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02920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2ECC71"/>
                </a:solidFill>
              </a:rPr>
              <a:t>✓  Trade-offs visible, not hidden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358384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Every pick shows a ✓/✗/? checklist mapping
your chips to match status — no surprises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1664208"/>
            <a:ext cx="5394960" cy="4389120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8308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CADCFC"/>
                </a:solidFill>
              </a:rPr>
              <a:t>Demo — Water-Bottle Scenario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24028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CADCFC"/>
                </a:solidFill>
              </a:rPr>
              <a:t>①  Need Discovery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51460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50">
                <a:solidFill>
                  <a:srgbClr val="FFFFFF"/>
                </a:solidFill>
              </a:rPr>
              <a:t>“Current bottle is heavy and leaks
in my gym bag.”  → water_bottle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01752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CADCFC"/>
                </a:solidFill>
              </a:rPr>
              <a:t>②  Clarification (3 chips)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29184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50">
                <a:solidFill>
                  <a:srgbClr val="FFFFFF"/>
                </a:solidFill>
              </a:rPr>
              <a:t>Gym · Large capacity · (leak inferred
from 'leaks' in the input)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79476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CADCFC"/>
                </a:solidFill>
              </a:rPr>
              <a:t>③  3 Curated Picks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06908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50">
                <a:solidFill>
                  <a:srgbClr val="FFFFFF"/>
                </a:solidFill>
              </a:rPr>
              <a:t>Best Fit  Owala 24oz FreeSip
rules: gym_suitable · large_capacity_pref · leak_proof_match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57200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CADCFC"/>
                </a:solidFill>
              </a:rPr>
              <a:t>④  Picks — labels + checklist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484632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50">
                <a:solidFill>
                  <a:srgbClr val="FFFFFF"/>
                </a:solidFill>
              </a:rPr>
              <a:t>Budget Pick: Zak 19oz [Cheapest · Most portable]
Stretch: Owala 32oz [Most capacity · Most leakproof]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534924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CADCFC"/>
                </a:solidFill>
              </a:rPr>
              <a:t>⑤  Refine + Compare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562356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50">
                <a:solidFill>
                  <a:srgbClr val="FFFFFF"/>
                </a:solidFill>
              </a:rPr>
              <a:t>‘larger’ → flips Best Fit to 32oz · diff card shown
Select 3, compare side-by-side with row-winners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6199632"/>
            <a:ext cx="10469880" cy="384048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6236208"/>
            <a:ext cx="10469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CADCFC"/>
                </a:solidFill>
              </a:rPr>
              <a:t>Heuristic self-assessment against the seven capability gaps in our evaluation  ·  formal user study is future work (see Slide 11)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6B7AB8"/>
                </a:solidFill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09  ·  LIMITATIONS, CONCLUSIONS &amp; 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800">
                <a:solidFill>
                  <a:srgbClr val="1E2761"/>
                </a:solidFill>
              </a:rPr>
              <a:t>Honest Assessment · What This Proves · Next Steps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664208"/>
            <a:ext cx="3657600" cy="4800600"/>
          </a:xfrm>
          <a:prstGeom prst="rect">
            <a:avLst/>
          </a:prstGeom>
          <a:solidFill>
            <a:srgbClr val="6B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" y="1755648"/>
            <a:ext cx="34564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</a:rPr>
              <a:t>Limitations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664208"/>
            <a:ext cx="3657600" cy="480060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07408" y="1755648"/>
            <a:ext cx="34564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</a:rPr>
              <a:t>Conclusions &amp; Impact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83880" y="1664208"/>
            <a:ext cx="3657600" cy="48006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93608" y="1755648"/>
            <a:ext cx="34564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</a:rPr>
              <a:t>Future 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" y="2258568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⚠  Small dataset — 100 products,
    3 categories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" y="3063240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⚠  No formal user study —
    heuristic evaluation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" y="3867912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⚠  72/100 delivery values are
    estimated (flagged in data)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" y="4672584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⚠  Rule-based ranking — weights
    inferred, not learned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2258568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✓  Decision support feasible
    end-to-end without an LLM key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7408" y="3063240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✓  Explanations grounded in the
    same rules the ranker used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7408" y="3867912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✓  Visible preference continuity —
    every refine shows a diff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4672584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✓  Lifecycle layer is a prototype
    value-extension concept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8" y="5477256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✓  AI tools disclosed:
    Claude Opus 4.7 · Codex 5.5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3608" y="2258568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→  Formal user study
    (SUS, task completion time)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3608" y="3063240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→  Live retailer API
    for real-time pricing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3608" y="3867912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→  ML-based ranking
    from interaction data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8" y="4672584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→  Expand to more
    product categories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5477256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→  Mobile-first UI
    redesign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9AA8CC"/>
                </a:solidFill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600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2200">
                <a:solidFill>
                  <a:srgbClr val="CADCFC"/>
                </a:solidFill>
              </a:rPr>
              <a:t>Questions &amp; Discussion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291840"/>
            <a:ext cx="103327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4290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Author: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34290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FFFFF"/>
                </a:solidFill>
              </a:rPr>
              <a:t>Chenghui Tan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39776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Institution: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39776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FFFFF"/>
                </a:solidFill>
              </a:rPr>
              <a:t>California State University, East Bay (CSUEB)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45262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Project: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45262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FFFFF"/>
                </a:solidFill>
              </a:rPr>
              <a:t>Decision-Oriented Conversational Shopping Assistant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507492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Runtime: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50749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FFFFF"/>
                </a:solidFill>
              </a:rPr>
              <a:t>React · FastAPI · Claude Opus 4.7 · Python · Playwright (ETL)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56235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Built with: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56235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FFFFF"/>
                </a:solidFill>
              </a:rPr>
              <a:t>Claude Code (Opus 4.7)  ·  Codex GPT-5.5  (independent validation)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6B7AB8"/>
                </a:solidFill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