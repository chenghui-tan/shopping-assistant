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 for this slide:</a:t>
            </a:r>
          </a:p>
          <a:p>
            <a:r>
              <a:t>1. UNDERSTAND YOU — the assistant lets the user start from a frustration ('phone screen too small for cooking') instead of a category. Six chip questions per category — voice ecosystem, placement, screen size, privacy, etc. — are decision-relevant, not generic budget/urgency.</a:t>
            </a:r>
          </a:p>
          <a:p>
            <a:r>
              <a:t>2. REMEMBERS YOU — every refine turn captures a preference diff and renders it as a 'What changed' card. Implicit prefs are inferred from the free-text frustration ('leaks' -&gt; leak-resistant, 'heavy' -&gt; lightweight).</a:t>
            </a:r>
          </a:p>
          <a:p>
            <a:r>
              <a:t>3. CLEAR DECISIONS — the assistant returns 3 differentiated picks (Best Fit / Budget Pick / Stretch). Each pick carries a ✓/✗/? checklist mapping every chip the user picked to a match status. Compare view lays 2-3 finalists side-by-side with row-winners highlighted.</a:t>
            </a:r>
          </a:p>
          <a:p>
            <a:r>
              <a:t>4. LIFECYCLE LAYER — framed as a prototype concept that demonstrates the assistant continuing to add value after purchase (phone reminders, gym-bag checklist, replacement parts). Not a finished post-purchase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talking points:</a:t>
            </a:r>
          </a:p>
          <a:p>
            <a:r>
              <a:t>- React frontend talks to FastAPI backend over REST. The five scenes are Need Discovery, Clarification, 3 Curated Picks, Why-this-fits, Lifecycle.</a:t>
            </a:r>
          </a:p>
          <a:p>
            <a:r>
              <a:t>- FastAPI orchestrates Claude (language) and the Recommendation Engine (deterministic). Eight endpoints including /save and /lifecycle.</a:t>
            </a:r>
          </a:p>
          <a:p>
            <a:r>
              <a:t>- Claude Opus 4.7 is used at three call sites: parse free-text input, write personal product copy, parse refine intent. Each has a deterministic fallback so the demo runs without an API key — regex classifier for input, rule-&gt;text dictionary for copy, regex parser for refine.</a:t>
            </a:r>
          </a:p>
          <a:p>
            <a:r>
              <a:t>- Recommendation Engine is plain Python: filter, score, rank, curated 3 picks, factual tradeoff labels. It is never an LLM call. This is the trust boundary that anchors auditability.</a:t>
            </a:r>
          </a:p>
          <a:p>
            <a:r>
              <a:t>- Product DB is products_clean.json with 100 products across the three categories. ETL via Playwright is offline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walkthrough (worked example):</a:t>
            </a:r>
          </a:p>
          <a:p>
            <a:r>
              <a:t>User intent: 'Reliable smart display, can wait on delivery, budget flexible'.</a:t>
            </a:r>
          </a:p>
          <a:p>
            <a:r>
              <a:t>GENERAL WEIGHTS (dynamic, derived from user priority): rating 50%, price 30%, delivery 20%.</a:t>
            </a:r>
          </a:p>
          <a:p>
            <a:r>
              <a:t>FEATURE WEIGHTS (smart_display): voice 40%, screen 30%, smart-home 20%, brand 10%.</a:t>
            </a:r>
          </a:p>
          <a:p>
            <a:r>
              <a:t>PRODUCTS:</a:t>
            </a:r>
          </a:p>
          <a:p>
            <a:r>
              <a:t>  Echo Show 8 ($79, 4.7 stars, 2-day) -&gt; Gen 85 / Feat 78 / Combined 82 -&gt; #1</a:t>
            </a:r>
          </a:p>
          <a:p>
            <a:r>
              <a:t>  Nest Hub 2nd Gen ($65, 4.5 stars, 3-day) -&gt; Gen 78 / Feat 82 / Combined 80 -&gt; #2</a:t>
            </a:r>
          </a:p>
          <a:p>
            <a:r>
              <a:t>  Echo Show 15 ($249) eliminated by $80 budget filter before scoring.</a:t>
            </a:r>
          </a:p>
          <a:p>
            <a:r>
              <a:t>Trust-boundary anchor: when the system must decide what to show, AI steps aside. Ranking is rule-based, reproducible,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Supporting stack — talking points:</a:t>
            </a:r>
          </a:p>
          <a:p>
            <a:r>
              <a:t>ETL: scrapes 100 products via Playwright with anti-bot measures, normalises delivery copy ('arrives Mar 14' -&gt; 5 days). 72/100 delivery values were missing post-scrape and are flagged 'estimated'; descriptions for all 100 are flagged 'synthesised from title'. No silent fabrication.</a:t>
            </a:r>
          </a:p>
          <a:p/>
          <a:p>
            <a:r>
              <a:t>Attribute extraction: regex-based, runs at load time. Echo Show models map to known screen sizes (5 -&gt; 5.5", 8 -&gt; 8", 15 -&gt; 15.6"); ecosystems infer from Echo/Nest/HomePod keywords; bottle capacity from 'oz' patterns.</a:t>
            </a:r>
          </a:p>
          <a:p/>
          <a:p>
            <a:r>
              <a:t>Claude call sites in the runtime: parse free-text input, write personal copy, parse refine intent. All three have deterministic fallbacks so the demo runs without an API key. Ranking is never an LLM call.</a:t>
            </a:r>
          </a:p>
          <a:p/>
          <a:p>
            <a:r>
              <a:t>AI tooling across the build (disclosed honestly):</a:t>
            </a:r>
          </a:p>
          <a:p>
            <a:r>
              <a:t>- Runtime model:  Claude Opus 4.7 (anthropic SDK).</a:t>
            </a:r>
          </a:p>
          <a:p>
            <a:r>
              <a:t>- Pair-programming:  Claude Code agent on Opus 4.6 and 4.7 across the 12-week build.</a:t>
            </a:r>
          </a:p>
          <a:p>
            <a:r>
              <a:t>- Independent validation:  Codex GPT-5.5 was run as an independent technical reviewer to flag demo-safety issues.</a:t>
            </a:r>
          </a:p>
          <a:p>
            <a:r>
              <a:t>All three are named in the report's AI Contributions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script (matches the running app exactly):</a:t>
            </a:r>
          </a:p>
          <a:p/>
          <a:p>
            <a:r>
              <a:t>1. Type into Scene 1: 'current bottle is heavy and leaks in my gym bag'.</a:t>
            </a:r>
          </a:p>
          <a:p>
            <a:r>
              <a:t>   Observe: category auto-classified as water_bottle. The route also infers leak_proof_preferred=True from the word 'leaks'.</a:t>
            </a:r>
          </a:p>
          <a:p/>
          <a:p>
            <a:r>
              <a:t>2. Scene 2: pick three chips — Water Bottle / Gym / Large capacity. Skip the others. Hit 'See recommendations'.</a:t>
            </a:r>
          </a:p>
          <a:p/>
          <a:p>
            <a:r>
              <a:t>3. Scene 3: three differentiated picks render in a row.</a:t>
            </a:r>
          </a:p>
          <a:p>
            <a:r>
              <a:t>   - BEST FIT: Owala 24oz FreeSip — rules [gym_suitable, large_capacity_pref, leak_proof_match]. The Large-capacity preference is honoured (≥24oz) and leak-resistance is matched.</a:t>
            </a:r>
          </a:p>
          <a:p>
            <a:r>
              <a:t>   - BUDGET PICK: Zak Designs 19oz — labels [Cheapest, Most portable]. Honestly shows ✗ Large capacity (19oz) in its checklist.</a:t>
            </a:r>
          </a:p>
          <a:p>
            <a:r>
              <a:t>   - LARGE CAPACITY PICK: Owala 32oz FreeSip — labels [Most capacity, Most leakproof].</a:t>
            </a:r>
          </a:p>
          <a:p/>
          <a:p>
            <a:r>
              <a:t>4. Click 'See why' on Best Fit. Stage 4 quotes the user's frustration, lists the rule-grounded reasons, and shows the ✓/✗/? checklist of every preference.</a:t>
            </a:r>
          </a:p>
          <a:p/>
          <a:p>
            <a:r>
              <a:t>5. Refine: type 'larger'. The diff card shows size_preference None -&gt; large; Best Fit flips to 32oz. Demonstrates preference continuity.</a:t>
            </a:r>
          </a:p>
          <a:p/>
          <a:p>
            <a:r>
              <a:t>6. Click compare on 2-3 picks; the side-by-side overlay highlights the row-winner (lowest price, largest capacity, etc.) per attribute.</a:t>
            </a:r>
          </a:p>
          <a:p/>
          <a:p>
            <a:r>
              <a:t>7. Continue to Lifecycle (prototype). Phone reminders / gym-bag checklist / replacement parts — honest about what the bottle can/cannot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APPLIED RESEARCH PROJECT  ·  CAPSTONE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FFFFFF"/>
                </a:solidFill>
              </a:rPr>
              <a:t>A Decision-Oriented Conversational
Shopping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CADCFC"/>
                </a:solidFill>
              </a:rPr>
              <a:t>Preference Elicitation · Explainable Recommendations · Lifecycle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43400"/>
            <a:ext cx="107899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6B7AB8"/>
                </a:solidFill>
              </a:rPr>
              <a:t>California State University, East Bay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01  ·  INTRODUCTION &amp;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Information Retrieval  ≠  Decision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Cognitive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96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must mentally juggle all constraints and trade-offs themselves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Vague, Evolving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rarely know exactly what they want when they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05072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96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Preferences Get Overwritten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Add a new constraint — your earlier choices are erased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75504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66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Missing Critical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50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Delivery time, promos, and availability hidden or absent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664208"/>
            <a:ext cx="5715000" cy="4681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783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CADCFC"/>
                </a:solidFill>
              </a:rPr>
              <a:t>The Decision Burden Falls on the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957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FFFFFF"/>
                </a:solidFill>
              </a:rPr>
              <a:t>Existing tools assume shopping is a search problem.
In reality, users face a decision problem —
and no platform is built to help them solve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521208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703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Decision fatigue increases with more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29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Users guess, settle, or abandon purchases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892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Post-purchase regret when trade-offs aren't 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5486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Trust erodes when recommendations have no rationale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943600"/>
            <a:ext cx="5715000" cy="38404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971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→  We built a system that addresses the decision — not just the search.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02  ·  THE MARKET &amp;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Existing Platforms — Where They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65176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Google
Shopping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Search &amp;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627632"/>
            <a:ext cx="2651760" cy="10972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Amazon
Rufus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chat in Amazon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627632"/>
            <a:ext cx="2651760" cy="10972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ChatGPT
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Natural language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627632"/>
            <a:ext cx="2651760" cy="10972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answer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CADCFC"/>
                </a:solidFill>
              </a:rPr>
              <a:t>KEY GAPS ACROSS THE LANDSCAPE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Overwrites preferences mid-conversation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Assumes you already know what you want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Missing delivery, promos &amp;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Text heavy — low information density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 preference continuity across 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Multiple steps to reach product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Separates reasoning from shopping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Opaque ranking — no explanation why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Not built for first-time / cold-start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→  The common thread: no platform treats shopping as a decision problem.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Search-first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retrieve results,  not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AI chatbots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converse,  but don't structure trade-offs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5352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All surveyed platforms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no preference continuity across turns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03  ·  COMPETITIVE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Capability Comparison Across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91056"/>
            <a:ext cx="2898648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Google
Shopping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Amazon
Rufus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ChatGPT
Shopping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Perplexity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591056"/>
            <a:ext cx="161848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664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Our
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57984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95144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Elicitation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157984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249424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688336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25496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Decision Modeling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688336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779776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218688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355848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Explainable 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8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3218688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310128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749040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886200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Delivery / Promo Info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8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8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3749040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20" y="3840480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279392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41655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Continuity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756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0060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668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8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20" y="4279392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89720" y="4370832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809744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4946904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Side-by-Side Comparison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3756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0060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60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2668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2668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4809744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89720" y="4901184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5340096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5477256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Lifecycle Support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3756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3756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060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0060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6364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2668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2668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9720" y="5340096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9720" y="5431536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6080760"/>
            <a:ext cx="11338560" cy="3931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360" y="611733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  In our self-evaluation against these platforms, our system addresses all seven gaps.  Here is how we built it.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04  ·  OUR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Your Personal AI Shopping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74720" cy="4114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Understand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Frustration →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Decision-Relevant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ecosystem · placement · privacy ·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664208"/>
            <a:ext cx="3474720" cy="4114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Remembers 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Preference Continuity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Visible Diff on Refine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“leaks” → leak-proof  ·  “heavy” → lightweight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664208"/>
            <a:ext cx="3474720" cy="4114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Clear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3 Curated Picks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Why-this-fits  ·  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Best Fit · Budget Pick · Stretch Pick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🏠  Lifecycle Layer (prototype)  —  Realistic post-purchase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05A  ·  CONCEPTUAL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Five-Layer Decision Support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Preference
Elicitation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Transforms vague needs
into structured inputs
via conversational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Decision
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Multi-criteria model:
hard constraints +
weighted soft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Recommendation
&amp;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Constraint-aware ranking
of feasible products;
no click-prediction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Explainability
&amp; 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Why this fits, what
you give up — trade-offs
made 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Lifecycle
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Post-purchase value:
meal planning, scheduling,
decision reinforcement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6B7AB8"/>
                </a:solidFill>
              </a:rPr>
              <a:t>End-to-end: vague need → structured decision → ranked products → explained trade-offs → lifecycle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05B  ·  RUNTIME ARCHITECTURE — TECH &amp;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Components &amp; How They Communicate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256032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49424"/>
            <a:ext cx="2340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Stage 1 — Need Discovery
Stage 2 — Clarification Q&amp;A
Stage 3 — 3 Curated Picks
Stage 4 — Why This Fits
Stage 5 —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19072"/>
            <a:ext cx="3383280" cy="1828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9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</a:rPr>
              <a:t>/start  /answer  /recommend
/refine  /save  /lifecycle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980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FFFFF"/>
                </a:solidFill>
              </a:rPr>
              <a:t>Orchestrates all logic + deterministic
fallbacks (regex refine, classifier)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719072"/>
            <a:ext cx="3063240" cy="1828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80136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Claude Opus 4.7 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24942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Parse free-text input
Write personal copy
Parse refine intent
(deterministic fallback per call)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14800"/>
            <a:ext cx="2560320" cy="164592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Filter · score · rank
Curated 3 picks
Tradeoff labels (factual)
Deterministic — no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114800"/>
            <a:ext cx="2560320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Product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products_clean.json
100 products · 3 categories
Smart Display · Water Bottle
Kitchen Organizer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4114800"/>
            <a:ext cx="2743200" cy="16459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1970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ETL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6451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Playwright scrapers
Amazon · Target
Normalize &amp; deduplicate
Offline batch feed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2505456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0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295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REST 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724912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2505456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29514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msg +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724912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037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788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AI response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30900" y="3547872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80560" y="3818636"/>
            <a:ext cx="283464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6786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250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6027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profile +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867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ranked list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query feasible 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4925060"/>
            <a:ext cx="2743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0496" y="479145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91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offline feed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06  ·  RECOMMENDATION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1E2761"/>
                </a:solidFill>
              </a:rPr>
              <a:t>The Deterministic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Free-Text Parsing (with regex fallback)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444752"/>
            <a:ext cx="3730752" cy="384048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⚙️  Rule-Based — Ranking · Picks ·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Personal Copy (with grounded fallback)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93392"/>
            <a:ext cx="5257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048256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①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359152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</a:rPr>
              <a:t>Apply hard constraints (budget, delivery, no-camera).
Non-matches drop out before scoring.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8940" y="2816352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90088"/>
            <a:ext cx="5257800" cy="8686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044952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②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355848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General: rating · price · delivery (weights from priority)
Feature: category rules (voice · screen · privacy · 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8940" y="3813048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86784"/>
            <a:ext cx="5257800" cy="8686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041648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③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352544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Combined = General + category bonus.
Sort top-N descending.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8940" y="4809744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83480"/>
            <a:ext cx="525780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503834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④ Curate 3 Picks +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5349240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Best Fit · Budget Pick · Stretch.
Factual labels (Cheapest, Most leakproof) — only when true.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993392"/>
            <a:ext cx="5852160" cy="42062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0299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Example — User intent: “Reliable smart display · Can wait on delivery · Budget flexible”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5054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GENERAL WEIGHTS  —  dynamic, derived from this user's priorities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743200"/>
            <a:ext cx="1828800" cy="32918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Rating  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2743200"/>
            <a:ext cx="1828800" cy="329184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Price  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8088" y="2743200"/>
            <a:ext cx="182880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48088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Delivery 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16382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FEATURE WEIGHTS  —  category-specific  (smart displays)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Voice  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88936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Screen  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7112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Smart Home  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05288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5288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Brand  10%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840480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9320" y="3840480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4041648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877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1696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$79 · 4.7★ · 2-day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3895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85  ·  Feat: 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82   →  #1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553712"/>
            <a:ext cx="5852160" cy="658368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4553712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07608" y="4754880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Google Nest Hub (2nd Gen)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8828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$65 · 4.5★ · 3-day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78  ·  Feat: 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4882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80   →  #2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266944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5266944"/>
            <a:ext cx="1097280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07608" y="54681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✗  ELIMINATED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55961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$249 · 4.8★ · 2-day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$249 &gt; $80 budget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5596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E74C3C"/>
                </a:solidFill>
              </a:rPr>
              <a:t>Eliminated before scoring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0167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When the system must decide what to show the user, AI steps aside.  Ranking is rule-based, reproducible, and auditable — trust is anchored here.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07  ·  DATA, AI &amp;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The Supporting Stack — What Feeds the Decision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577840" cy="226771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ETL  +  Provenance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Playwright scrapers  ·  Amazon · Target
Anti-bot stealth · normalize · dedup
Each field flagged: scraped vs estimated
vs synthesised — no silent fabrication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100 products  ·  3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64208"/>
            <a:ext cx="5577840" cy="22677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Attribute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screen_inches · ecosystems · has_camera
mounting · capacity_oz · bottle_material
drinking_style · organiser_material
Pulled from titles at load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feeds ranker, picks, compare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41648"/>
            <a:ext cx="5577840" cy="22677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Claude Opus 4.7  —  3 Call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Parse free-text input
②  Write personal product copy
③  Parse refine intent
Every call has a deterministic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Never on the ranking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041648"/>
            <a:ext cx="5577840" cy="226771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React Frontend  —  5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Need Discovery
②  Clarification Q&amp;A
③  3 Curated Picks
④  Why This Fits  (rule-grounded checklist)
⑤  Lifecycle  (prototype value-extension)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+ Compare overlay · Save-for-later · Diff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446520"/>
            <a:ext cx="11338560" cy="32918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6480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AI tooling:  Runtime  Claude Opus 4.7   ·   Build  Claude Code (Opus 4.6 / 4.7)   ·   Independent validation  Codex GPT-5.5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08  ·  RESULTS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Capability Validation &amp; Scenario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5669280" cy="4389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Capability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Capability gaps (self-evaluation)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7 of 7 gaps addressed in our walkthroughs;
no surveyed platform addressed more than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Decision-critical attributes inline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Screen size, ecosystem, camera, capacity,
material — surfaced on every pick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End-to-end in five scenes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439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Need → clarify → 3 picks → why-this-fits →
lifecycle. Zero external page navigation.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Trade-offs visible, not 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Every pick shows a ✓/✗/? checklist mapping
your chips to match status — no surprises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64208"/>
            <a:ext cx="5394960" cy="43891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Demo — Water-Bottle 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40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①  Need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“Current bottle is heavy and leaks
in my gym bag.”  → water_bottle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②  Clarification (3 chips)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Gym · Large capacity · (leak inferred
from 'leaks' in the input)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③  3 Curated Picks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69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Best Fit  Owala 24oz FreeSip
rules: gym_suitable · large_capacity_pref · leak_proof_match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④  Picks — labels +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Budget Pick: Zak 19oz [Cheapest · Most portable]
Stretch: Owala 32oz [Most capacity · Most leakproof]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492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⑤  Refine + 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23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‘larger’ → flips Best Fit to 32oz · diff card shown
Select 3, compare side-by-side with row-winners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199632"/>
            <a:ext cx="10469880" cy="384048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36208"/>
            <a:ext cx="10469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Heuristic self-assessment against the seven capability gaps in our evaluation  ·  formal user study is future work (see Slide 11)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09  ·  LIMITATIONS, 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Honest Assessment · What This Proves ·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3657600" cy="4800600"/>
          </a:xfrm>
          <a:prstGeom prst="rect">
            <a:avLst/>
          </a:prstGeom>
          <a:solidFill>
            <a:srgbClr val="6B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64208"/>
            <a:ext cx="3657600" cy="48006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Conclusions &amp;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64208"/>
            <a:ext cx="3657600" cy="4800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Small dataset — 100 products,
    3 categories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No formal user study —
    heuristic evaluation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72/100 delivery values are
    estimated (flagged in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Rule-based ranking — weights
    inferred, not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Decision support feasible
    end-to-end without an LLM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Explanations grounded in the
    same rules the ranker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Visible preference continuity —
    every refine shows a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Lifecycle layer is a prototype
    value-extension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Multi-model workflow disclosed:
    Opus 4.6 + 4.7 build · Codex 5.5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Formal user study
    (SUS, task completion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Live retailer API
    for real-time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ML-based ranking
    from interaction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Expand to more
    product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Mobile-first UI
    redesign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6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CADCFC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03327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429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Author: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429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77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Institution: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977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California State University, East Bay (CSUEB)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Decision-Oriented Conversational Shopping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074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Runtime: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074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React · FastAPI · Claude Opus 4.7 · Python · Playwright (ETL)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623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Built with: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623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Claude Code (Opus 4.6 / 4.7)  ·  Codex GPT-5.5  (independent validation)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