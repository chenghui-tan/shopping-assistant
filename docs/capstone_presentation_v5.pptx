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 for this slide:</a:t>
            </a:r>
          </a:p>
          <a:p>
            <a:r>
              <a:t>1. UNDERSTAND YOU — the assistant lets the user start from a frustration ('phone screen too small for cooking') instead of a category. Six chip questions per category — voice ecosystem, placement, screen size, privacy, etc. — are decision-relevant, not generic budget/urgency.</a:t>
            </a:r>
          </a:p>
          <a:p>
            <a:r>
              <a:t>2. REMEMBERS YOU — every refine turn captures a preference diff and renders it as a 'What changed' card. Implicit prefs are inferred from the free-text frustration ('leaks' -&gt; leak-resistant, 'heavy' -&gt; lightweight).</a:t>
            </a:r>
          </a:p>
          <a:p>
            <a:r>
              <a:t>3. CLEAR DECISIONS — the assistant returns 3 differentiated picks (Best Fit / Budget Pick / Stretch). Each pick carries a ✓/✗/? checklist mapping every chip the user picked to a match status. Compare view lays 2-3 finalists side-by-side with row-winners highlighted.</a:t>
            </a:r>
          </a:p>
          <a:p>
            <a:r>
              <a:t>4. LIFECYCLE LAYER — framed as a prototype concept that demonstrates the assistant continuing to add value after purchase (phone reminders, gym-bag checklist, replacement parts). Not a finished post-purchase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talking points:</a:t>
            </a:r>
          </a:p>
          <a:p>
            <a:r>
              <a:t>- React frontend talks to FastAPI backend over REST. The five scenes are Need Discovery, Clarification, 3 Curated Picks, Why-this-fits, Lifecycle.</a:t>
            </a:r>
          </a:p>
          <a:p>
            <a:r>
              <a:t>- FastAPI orchestrates Claude (language) and the Recommendation Engine (deterministic). Eight endpoints including /save and /lifecycle.</a:t>
            </a:r>
          </a:p>
          <a:p>
            <a:r>
              <a:t>- Claude Opus 4.7 is used at three call sites: parse free-text input, write personal product copy, parse refine intent. Each has a deterministic fallback so the demo runs without an API key — regex classifier for input, rule-&gt;text dictionary for copy, regex parser for refine.</a:t>
            </a:r>
          </a:p>
          <a:p>
            <a:r>
              <a:t>- Recommendation Engine is plain Python: filter, score, rank, curated 3 picks, factual tradeoff labels. It is never an LLM call. This is the trust boundary that anchors auditability.</a:t>
            </a:r>
          </a:p>
          <a:p>
            <a:r>
              <a:t>- Product DB is products_clean.json with 100 products across the three categories. ETL via Playwright is offline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Algorithm walkthrough (worked example):</a:t>
            </a:r>
          </a:p>
          <a:p>
            <a:r>
              <a:t>User intent: 'Reliable smart display, can wait on delivery, budget flexible'.</a:t>
            </a:r>
          </a:p>
          <a:p>
            <a:r>
              <a:t>GENERAL WEIGHTS (dynamic, derived from user priority): rating 50%, price 30%, delivery 20%.</a:t>
            </a:r>
          </a:p>
          <a:p>
            <a:r>
              <a:t>FEATURE WEIGHTS (smart_display): voice 40%, screen 30%, smart-home 20%, brand 10%.</a:t>
            </a:r>
          </a:p>
          <a:p>
            <a:r>
              <a:t>PRODUCTS:</a:t>
            </a:r>
          </a:p>
          <a:p>
            <a:r>
              <a:t>  Echo Show 8 ($79, 4.7 stars, 2-day) -&gt; Gen 85 / Feat 78 / Combined 82 -&gt; #1</a:t>
            </a:r>
          </a:p>
          <a:p>
            <a:r>
              <a:t>  Nest Hub 2nd Gen ($65, 4.5 stars, 3-day) -&gt; Gen 78 / Feat 82 / Combined 80 -&gt; #2</a:t>
            </a:r>
          </a:p>
          <a:p>
            <a:r>
              <a:t>  Echo Show 15 ($249) eliminated by $80 budget filter before scoring.</a:t>
            </a:r>
          </a:p>
          <a:p>
            <a:r>
              <a:t>Trust-boundary anchor: when the system must decide what to show, AI steps aside. Ranking is rule-based, reproducible,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stack — talking points:</a:t>
            </a:r>
          </a:p>
          <a:p>
            <a:r>
              <a:t>ETL: scrapes 100 products via Playwright with anti-bot measures, normalises delivery copy ('arrives Mar 14' -&gt; 5 days). 72/100 delivery values were missing post-scrape and are flagged 'estimated'; descriptions for all 100 are flagged 'synthesised from title'. No silent fabrication.</a:t>
            </a:r>
          </a:p>
          <a:p/>
          <a:p>
            <a:r>
              <a:t>Attribute extraction: regex-based, runs at load time. Echo Show models map to known screen sizes (5 -&gt; 5.5", 8 -&gt; 8", 15 -&gt; 15.6"); ecosystems infer from Echo/Nest/HomePod keywords; bottle capacity from 'oz' patterns.</a:t>
            </a:r>
          </a:p>
          <a:p/>
          <a:p>
            <a:r>
              <a:t>Claude call sites in the runtime: parse free-text input, write personal copy, parse refine intent. All three have deterministic fallbacks so the demo runs without an API key. Ranking is never an LLM call.</a:t>
            </a:r>
          </a:p>
          <a:p/>
          <a:p>
            <a:r>
              <a:t>AI tooling across the build (disclosed honestly):</a:t>
            </a:r>
          </a:p>
          <a:p>
            <a:r>
              <a:t>- Runtime model:  Claude Opus 4.7 (anthropic SDK).</a:t>
            </a:r>
          </a:p>
          <a:p>
            <a:r>
              <a:t>- Pair-programming:  Claude Code agent on Opus 4.7 across the build.</a:t>
            </a:r>
          </a:p>
          <a:p>
            <a:r>
              <a:t>- Independent validation:  Codex GPT-5.5 was run as an independent technical reviewer to flag demo-safety issues.</a:t>
            </a:r>
          </a:p>
          <a:p>
            <a:r>
              <a:t>All three are named in the report's AI Contributions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Capability Validation — talking points (45–60 sec):</a:t>
            </a:r>
          </a:p>
          <a:p/>
          <a:p>
            <a:r>
              <a:t>DECISION TRANSPARENCY (left card, the headline finding):</a:t>
            </a:r>
          </a:p>
          <a:p>
            <a:r>
              <a:t>Every recommendation surfaces three things the user can audit — a Match / Miss / ? checklist mapping their chips to match status, an explicit trade-off card naming what the pick gives up, and reasons that map directly to rules the deterministic ranker fired.</a:t>
            </a:r>
          </a:p>
          <a:p/>
          <a:p>
            <a:r>
              <a:t>CAPABILITY CHECK (right top): the structural gaps from the competitive comparison on slide 4 are addressed in code — main gaps closed, preference continuity (diff per refine), explicit decision modeling (multi-criteria scoring), comparison view, and lifecycle layer.</a:t>
            </a:r>
          </a:p>
          <a:p/>
          <a:p>
            <a:r>
              <a:t>FEEDBACK &amp; REVIEW (right bottom): four sources fed back into the build —</a:t>
            </a:r>
          </a:p>
          <a:p>
            <a:r>
              <a:t> 1. Small-scale user feedback from family, friends, and classmates (structured picks + preference continuity + side-by-side compare made the decision easier to follow).</a:t>
            </a:r>
          </a:p>
          <a:p>
            <a:r>
              <a:t> 2. Professor feedback during the capstone.</a:t>
            </a:r>
          </a:p>
          <a:p>
            <a:r>
              <a:t> 3. Industry mentor — Senior Analytics Manager / Senior BI Engineer / Data Scientist / Data Engineer (Amazon, 13 years) — input on data discipline and decision-support framing.</a:t>
            </a:r>
          </a:p>
          <a:p>
            <a:r>
              <a:t> 4. Implementation review — Claude Code (Opus 4.7) build pair-programmer + Codex GPT-5.5 independent validator cross-reviewed the same codebase; each finding got fixed or dismissed in writing.</a:t>
            </a:r>
          </a:p>
          <a:p/>
          <a:p>
            <a:r>
              <a:t>RESULT BAR: the system turns vague needs into structured preferences and then into explainable recommendations — that transformation is the deliverable.</a:t>
            </a:r>
          </a:p>
          <a:p/>
          <a:p>
            <a:r>
              <a:t>Live demo runs immediately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APPLIED RESEARCH PROJECT  ·  CAPSTONE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FFFFFF"/>
                </a:solidFill>
              </a:rPr>
              <a:t>A Decision-Oriented Conversational
Shopping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03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CADCFC"/>
                </a:solidFill>
              </a:rPr>
              <a:t>Preference Elicitation · Explainable Recommendations · Lifecycle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343400"/>
            <a:ext cx="107899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480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6B7AB8"/>
                </a:solidFill>
              </a:rPr>
              <a:t>California State University, East Bay  ·  April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01  ·  INTRODUCTION &amp; BUSINESS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Information Retrieval  ≠  Decision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65376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5564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Cognitive Overload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3969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must mentally juggle all constraints and trade-offs themselves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834640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035808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260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Vague, Evolving Needs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1012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rarely know exactly what they want when they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05072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0624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9651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Preferences Get Overwritten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805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Add a new constraint — your earlier choices are erased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75504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376672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266944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Missing Critical Info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65099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Delivery time, promos, and availability hidden or absent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1664208"/>
            <a:ext cx="5715000" cy="468172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178308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The Decision Burden Falls on the 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2395728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FFFFFF"/>
                </a:solidFill>
              </a:rPr>
              <a:t>Existing tools assume shopping is a search problem.
In reality, users face a decision problem —
and no platform is built to help them solve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521208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370332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Decision fatigue increases with more options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29768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Users guess, settle, or abandon purchases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4892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Post-purchase regret when trade-offs aren't clear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54864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Trust erodes when recommendations have no rationale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5943600"/>
            <a:ext cx="5715000" cy="384048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597103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→  We built a system that addresses the decision — not just the search.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02  ·  THE MARKET &amp; THE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Existing Platforms — Where They Fall Short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2651760" cy="10972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Google
Shopping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Search &amp; filter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627632"/>
            <a:ext cx="2651760" cy="10972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Amazon
Rufus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chat in Amazon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504" y="1627632"/>
            <a:ext cx="2651760" cy="10972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ChatGPT
Shopping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Natural language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627632"/>
            <a:ext cx="2651760" cy="10972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36024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Perplexity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answer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CADCFC"/>
                </a:solidFill>
              </a:rPr>
              <a:t>KEY GAPS ACROSS THE LANDSCAPE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Overwrites preferences mid-conversation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2272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Assumes you already know what you want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8744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0184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Missing delivery, promos &amp; availability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Text heavy — low information density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 preference continuity across turns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0184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Multiple steps to reach product page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Separates reasoning from shopping 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Opaque ranking — no explanation why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38744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0184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Not built for first-time / cold-start users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→  The common thread: no platform treats shopping as a decision problem.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Search-first tools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retrieve results,  not decisions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2336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3308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AI chatbots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3308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converse,  but don't structure trade-offs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5352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All surveyed platforms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5352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no preference continuity across turns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03  ·  OUR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Your Personal AI Shopping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3474720" cy="4114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Understand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Frustration →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Decision-Relevant Q&amp;A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ecosystem · placement · privacy ·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1664208"/>
            <a:ext cx="3474720" cy="4114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Remembers You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Preference Continuity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Visible Diff on Refine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“leaks” → leak-proof  ·  “heavy” → lightweight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1664208"/>
            <a:ext cx="3474720" cy="4114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Clear Decisions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3 Curated Picks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Why-this-fits  ·  Compare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Best Fit · Budget Pick · Stretch Pick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FFFFFF"/>
                </a:solidFill>
              </a:rPr>
              <a:t>🏠  Lifecycle Layer (prototype)  —  Realistic post-purchase support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5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04A  ·  CONCEPTUAL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Five-Layer Decision Support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Preference
Elicitation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Transforms vague needs
into structured inputs
via conversational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Decision
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Multi-criteria model:
hard constraints +
weighted soft preferences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92624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Recommendation
&amp;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Constraint-aware ranking
of feasible products;
no click-prediction bias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0336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1776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Explainability
&amp; Interaction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Why this fits, what
you give up — trade-offs
made transparent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28048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Lifecycle
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7776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Post-purchase value:
meal planning, scheduling,
decision reinforcement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100">
                <a:solidFill>
                  <a:srgbClr val="6B7AB8"/>
                </a:solidFill>
              </a:rPr>
              <a:t>End-to-end: vague need → structured decision → ranked products → explained trade-offs → lifecycle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04B  ·  RUNTIME ARCHITECTURE — TECH &amp; INTERACTIONS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Components &amp; How They Communicate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19072"/>
            <a:ext cx="256032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01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React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249424"/>
            <a:ext cx="23408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Stage 1 — Need Discovery
Stage 2 — Clarification Q&amp;A
Stage 3 — 3 Curated Picks
Stage 4 — Why This Fits
Stage 5 — Lifecycle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719072"/>
            <a:ext cx="3383280" cy="1828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8013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FastAPI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9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100">
                <a:solidFill>
                  <a:srgbClr val="CADCFC"/>
                </a:solidFill>
              </a:rPr>
              <a:t>/start  /answer  /recommend
/refine  /save  /lifecycle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79806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FFFFFF"/>
                </a:solidFill>
              </a:rPr>
              <a:t>Orchestrates all logic + deterministic
fallbacks (regex refine, classifier)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3960" y="1719072"/>
            <a:ext cx="3063240" cy="1828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180136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Claude Opus 4.7  (AI)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249424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Parse free-text input
Write personal copy
Parse refine intent
(deterministic fallback per call)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114800"/>
            <a:ext cx="2560320" cy="164592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Recommendation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Filter · score · rank
Curated 3 picks
Tradeoff labels (factual)
Deterministic — no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4114800"/>
            <a:ext cx="2560320" cy="1645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Product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products_clean.json
100 products · 3 categories
Smart Display · Water Bottle
Kitchen Organizer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2743200" cy="16459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41970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ETL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4645152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Playwright scrapers
Amazon · Target
Normalize &amp; deduplicate
Offline batch feed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505456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50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2951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REST calls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2724912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2549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27889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2505456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2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2295144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msg +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5240" y="2724912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037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278892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AI response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30900" y="3547872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80560" y="3818636"/>
            <a:ext cx="283464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6786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0250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2376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36027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profile + products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38679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ranked list 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6027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query feasible set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95360" y="4925060"/>
            <a:ext cx="2743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40496" y="479145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470916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offline feed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05  ·  RECOMMENDATION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1E2761"/>
                </a:solidFill>
              </a:rPr>
              <a:t>The Deterministic Core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Free-Text Parsing (with regex fallback)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15384" y="1444752"/>
            <a:ext cx="3730752" cy="384048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15384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⚙️  Rule-Based — Ranking · Picks · Labels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9288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Personal Copy (with grounded fallback)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93392"/>
            <a:ext cx="5257800" cy="868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2048256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①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359152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CADCFC"/>
                </a:solidFill>
              </a:rPr>
              <a:t>Apply hard constraints (budget, delivery, no-camera).
Non-matches drop out before scoring.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8940" y="2816352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90088"/>
            <a:ext cx="5257800" cy="8686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②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355848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General: rating · price · delivery (weights from priority)
Feature: category rules (voice · screen · privacy · 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8940" y="3813048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986784"/>
            <a:ext cx="5257800" cy="8686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" y="4041648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③ 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352544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Combined = General + category bonus.
Sort top-N descending.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8940" y="4809744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83480"/>
            <a:ext cx="5257800" cy="8686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5038344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④ Curate 3 Picks + Labels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5349240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Best Fit · Budget Pick · Stretch.
Factual labels (Cheapest, Most leakproof) — only when true.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1993392"/>
            <a:ext cx="5852160" cy="42062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0299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FFFFF"/>
                </a:solidFill>
              </a:rPr>
              <a:t>Example — User intent: “Reliable smart display · Can wait on delivery · Budget flexible”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250545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GENERAL WEIGHTS  —  dynamic, derived from this user's priorities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743200"/>
            <a:ext cx="1828800" cy="32918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Rating  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64424" y="2743200"/>
            <a:ext cx="1828800" cy="329184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64424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Price  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48088" y="2743200"/>
            <a:ext cx="1828800" cy="32918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48088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Delivery  20%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316382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FEATURE WEIGHTS  —  category-specific  (smart displays)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Voice  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88936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88936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Screen  30%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97112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97112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Smart Home  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05288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05288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Brand  10%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3840480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89320" y="3840480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07608" y="4041648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8770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416966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$79 · 4.7★ · 2-day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21240" y="38953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85  ·  Feat: 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4169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82   →  #1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4553712"/>
            <a:ext cx="5852160" cy="658368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89320" y="4553712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07608" y="4754880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8040" y="4590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Google Nest Hub (2nd Gen)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78040" y="4882896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$65 · 4.5★ · 3-day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21240" y="4608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78  ·  Feat: 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1240" y="48828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80   →  #2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89320" y="5266944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89320" y="5266944"/>
            <a:ext cx="1097280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07608" y="546811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✗  ELIMINATED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78040" y="5303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55961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$249 · 4.8★ · 2-day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5321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$249 &gt; $80 budget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21240" y="55961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E74C3C"/>
                </a:solidFill>
              </a:rPr>
              <a:t>Eliminated before scoring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989320"/>
            <a:ext cx="11338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016752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When the system must decide what to show the user, AI steps aside.  Ranking is rule-based, reproducible, and auditable — trust is anchored here.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06  ·  DATA, AI &amp;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The Supporting Stack — What Feeds the Decision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577840" cy="226771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ETL  +  Provenance Flags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Playwright scrapers  ·  Amazon · Target
Anti-bot stealth · normalize · dedup
Each field flagged: scraped vs estimated
vs synthesised — no silent fabrication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100 products  ·  3 categories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664208"/>
            <a:ext cx="5577840" cy="226771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Attribute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screen_inches · ecosystems · has_camera
mounting · capacity_oz · bottle_material
drinking_style · organiser_material
Pulled from titles at load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feeds ranker, picks, compare 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41648"/>
            <a:ext cx="5577840" cy="2267712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Claude Opus 4.7  —  3 Call Sites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Parse free-text input
②  Write personal product copy
③  Parse refine intent
Every call has a deterministic fallback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Never on the ranking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4041648"/>
            <a:ext cx="5577840" cy="226771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React Frontend  —  5 Stages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Need Discovery
②  Clarification Q&amp;A
③  3 Curated Picks
④  Why This Fits  (rule-grounded checklist)
⑤  Lifecycle  (prototype value-extension)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+ Compare overlay · Save-for-later · Diff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446520"/>
            <a:ext cx="11338560" cy="3291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4648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AI tooling:  Runtime  Claude Opus 4.7   ·   Build  Claude Code (Opus 4.7)   ·   Independent validation  Codex GPT-5.5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07  ·  CAPABILITY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Capability Validation — What I Checked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486400" cy="420624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200">
                <a:solidFill>
                  <a:srgbClr val="FFFFFF"/>
                </a:solidFill>
              </a:rPr>
              <a:t>Decision Transparency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CADCFC"/>
                </a:solidFill>
              </a:rPr>
              <a:t>How users can see and audit every recommendation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411480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08960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FFFFF"/>
                </a:solidFill>
              </a:rPr>
              <a:t>Match / Miss / ?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43814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CADCFC"/>
                </a:solidFill>
              </a:rPr>
              <a:t>Every chip the user picked is shown as ✓ match · ✗ miss · ? unknown.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411480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233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977640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FFFFF"/>
                </a:solidFill>
              </a:rPr>
              <a:t>Trade-offs visible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30682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CADCFC"/>
                </a:solidFill>
              </a:rPr>
              <a:t>Yellow trade-off card on each pick names the cost, not just the win.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892040"/>
            <a:ext cx="411480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920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846320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FFFFF"/>
                </a:solidFill>
              </a:rPr>
              <a:t>Reasoning inspectable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17550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CADCFC"/>
                </a:solidFill>
              </a:rPr>
              <a:t>Each reason maps to a rule the deterministic ranker actually fired.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691640"/>
            <a:ext cx="5486400" cy="201168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85623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</a:rPr>
              <a:t>Capability 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37744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377440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Main gaps addressed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68833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688336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Preference continuity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299923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999232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Decision modeling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31012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3310128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Comparison + lifecycle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3886200"/>
            <a:ext cx="5486400" cy="201168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405079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FFFFF"/>
                </a:solidFill>
              </a:rPr>
              <a:t>Feedback &amp; 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45720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4572000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Small-scale user feedback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48828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882896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Professor feedback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1937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5193792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Industry mentor input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55046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5504688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Implementation review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080760"/>
            <a:ext cx="11292840" cy="50292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6153912"/>
            <a:ext cx="112928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FFFFFF"/>
                </a:solidFill>
              </a:rPr>
              <a:t>Result:  vague needs  →  structured preferences  →  explainable recommendations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08  ·  LIMITATIONS, 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Honest Assessment · What This Proves ·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3657600" cy="4800600"/>
          </a:xfrm>
          <a:prstGeom prst="rect">
            <a:avLst/>
          </a:prstGeom>
          <a:solidFill>
            <a:srgbClr val="6B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64208"/>
            <a:ext cx="3657600" cy="48006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Conclusions &amp;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664208"/>
            <a:ext cx="3657600" cy="48006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Small dataset — 100 products,
    3 categories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Small-scale user testing —
    family, friends, classmates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72/100 delivery values are
    estimated (flagged in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Rule-based ranking — weights
    inferred, not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Decision support feasible
    end-to-end without an LLM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Explanations grounded in the
    same rules the ranker 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Visible preference continuity —
    every refine shows a diff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Lifecycle layer is a prototype
    value-extension concept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AI tools disclosed:
    Claude Opus 4.7 · Codex 5.5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Formal user study
    (SUS, task completion time)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Live retailer API
    for real-time 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ML-based ranking
    from interaction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Expand to more
    product 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Mobile-first UI
    redesign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600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200">
                <a:solidFill>
                  <a:srgbClr val="CADCFC"/>
                </a:solidFill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91840"/>
            <a:ext cx="103327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429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Author: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4290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776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Institution: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977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California State University, East Bay (CSUEB)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262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Project: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526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Decision-Oriented Conversational Shopping 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0749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Runtime: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5074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React · FastAPI · Claude Opus 4.7 · Python · Playwright (ETL)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Built with: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5623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Claude Code (Opus 4.7)  ·  Codex GPT-5.5  (independent validation)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