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2"/>
  </p:normalViewPr>
  <p:slideViewPr>
    <p:cSldViewPr snapToGrid="0" snapToObjects="1">
      <p:cViewPr varScale="1">
        <p:scale>
          <a:sx n="83" d="100"/>
          <a:sy n="83" d="100"/>
        </p:scale>
        <p:origin x="216" y="5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0DFECA-0844-F643-BF91-8AD3B86C8F47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2D296C-45C8-8B44-A5A8-6EEF398AD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0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>
            <a:endParaRPr/>
          </a:p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>
            <a:endParaRPr/>
          </a:p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>
            <a:endParaRPr/>
          </a:p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Capability Validation — talking points (45–60 sec):</a:t>
            </a:r>
          </a:p>
          <a:p>
            <a:endParaRPr/>
          </a:p>
          <a:p>
            <a:r>
              <a:t>DECISION TRANSPARENCY (left card, the headline finding):</a:t>
            </a:r>
          </a:p>
          <a:p>
            <a:r>
              <a:t>Every recommendation surfaces three things the user can audit — a Match / Miss / ? checklist mapping their chips to match status, an explicit trade-off card naming what the pick gives up, and reasons that map directly to rules the deterministic ranker fired.</a:t>
            </a:r>
          </a:p>
          <a:p>
            <a:endParaRPr/>
          </a:p>
          <a:p>
            <a:r>
              <a:t>CAPABILITY CHECK (right top): the structural gaps from the competitive comparison on slide 4 are addressed in code — main gaps closed, preference continuity (diff per refine), explicit decision modeling (multi-criteria scoring), comparison view, and lifecycle layer.</a:t>
            </a:r>
          </a:p>
          <a:p>
            <a:endParaRPr/>
          </a:p>
          <a:p>
            <a:r>
              <a:t>FEEDBACK &amp; REVIEW (right bottom): four sources fed back into the build —</a:t>
            </a:r>
          </a:p>
          <a:p>
            <a:r>
              <a:t> 1. Small-scale user feedback from family, friends, and classmates (structured picks + preference continuity + side-by-side compare made the decision easier to follow).</a:t>
            </a:r>
          </a:p>
          <a:p>
            <a:r>
              <a:t> 2. Professor feedback during the capstone.</a:t>
            </a:r>
          </a:p>
          <a:p>
            <a:r>
              <a:t> 3. Industry mentor — Senior Analytics Manager / Senior BI Engineer / Data Scientist / Data Engineer (Amazon, 13 years) — input on data discipline and decision-support framing.</a:t>
            </a:r>
          </a:p>
          <a:p>
            <a:r>
              <a:t> 4. Implementation review — Claude Code (Opus 4.7) build pair-programmer + Codex GPT-5.5 independent validator cross-reviewed the same codebase; each finding got fixed or dismissed in writing.</a:t>
            </a:r>
          </a:p>
          <a:p>
            <a:endParaRPr/>
          </a:p>
          <a:p>
            <a:r>
              <a:t>RESULT BAR: the system turns vague needs into structured preferences and then into explainable recommendations — that transformation is the deliverable.</a:t>
            </a:r>
          </a:p>
          <a:p>
            <a:endParaRPr/>
          </a:p>
          <a:p>
            <a:r>
              <a:t>Live demo runs immediately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08  ·  CAPABILITY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Capability Validation — What I Checked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00" cy="420624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Decision Transparency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</a:rPr>
              <a:t>How users can see and audit every recommendation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0896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Match / Miss / ?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3814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</a:rPr>
              <a:t>Every chip the user picked is shown as ✓ match · ✗ miss · ? unknown.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4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Trade-offs 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30682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</a:rPr>
              <a:t>Yellow trade-off card on each pick names the cost, not just the win.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84632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Reasoning inspectable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7550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</a:rPr>
              <a:t>Each reason maps to a rule the deterministic ranker actually fired.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691640"/>
            <a:ext cx="5486400" cy="201168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0" y="18562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Capability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3774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37744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Main gaps addressed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68833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68833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Preference continuity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99923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99923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Decision modeling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31012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31012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Comparison + 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886200"/>
            <a:ext cx="5486400" cy="201168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92240" y="40507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Feedback &amp;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5720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57200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Small-scale user feedback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8828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88289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Professor feedback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1937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5193792"/>
            <a:ext cx="48463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FFFFFF"/>
                </a:solidFill>
              </a:rPr>
              <a:t>Industry context from Amazon </a:t>
            </a:r>
            <a:r>
              <a:rPr lang="zh-CN" altLang="en-US" sz="1300" dirty="0">
                <a:solidFill>
                  <a:srgbClr val="FFFFFF"/>
                </a:solidFill>
              </a:rPr>
              <a:t> </a:t>
            </a:r>
            <a:r>
              <a:rPr lang="en-US" sz="1300" dirty="0">
                <a:solidFill>
                  <a:srgbClr val="FFFFFF"/>
                </a:solidFill>
              </a:rPr>
              <a:t>experience</a:t>
            </a:r>
          </a:p>
          <a:p>
            <a:pPr algn="l"/>
            <a:endParaRPr sz="1300" b="0" i="0" dirty="0">
              <a:solidFill>
                <a:srgbClr val="FFFFFF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537960" y="55046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50468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Implementation review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080760"/>
            <a:ext cx="11292840" cy="502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6153912"/>
            <a:ext cx="112928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Result:  vague needs  →  structured preferences  →  explainable recommendations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Small-scale user testing —
    family, friends, classmates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1685</TotalTime>
  <Words>2538</Words>
  <Application>Microsoft Macintosh PowerPoint</Application>
  <PresentationFormat>Custom</PresentationFormat>
  <Paragraphs>302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Chenghui Tan</cp:lastModifiedBy>
  <cp:revision>2</cp:revision>
  <dcterms:created xsi:type="dcterms:W3CDTF">2013-01-27T09:14:16Z</dcterms:created>
  <dcterms:modified xsi:type="dcterms:W3CDTF">2026-05-08T04:34:36Z</dcterms:modified>
  <cp:category/>
</cp:coreProperties>
</file>