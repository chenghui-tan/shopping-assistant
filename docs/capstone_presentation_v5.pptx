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Talking points for this slide:</a:t>
            </a:r>
          </a:p>
          <a:p>
            <a:r>
              <a:t>1. UNDERSTAND YOU — the assistant lets the user start from a frustration ('phone screen too small for cooking') instead of a category. Six chip questions per category — voice ecosystem, placement, screen size, privacy, etc. — are decision-relevant, not generic budget/urgency.</a:t>
            </a:r>
          </a:p>
          <a:p>
            <a:r>
              <a:t>2. REMEMBERS YOU — every refine turn captures a preference diff and renders it as a 'What changed' card. Implicit prefs are inferred from the free-text frustration ('leaks' -&gt; leak-resistant, 'heavy' -&gt; lightweight).</a:t>
            </a:r>
          </a:p>
          <a:p>
            <a:r>
              <a:t>3. CLEAR DECISIONS — the assistant returns 3 differentiated picks (Best Fit / Budget Pick / Stretch). Each pick carries a ✓/✗/? checklist mapping every chip the user picked to a match status. Compare view lays 2-3 finalists side-by-side with row-winners highlighted.</a:t>
            </a:r>
          </a:p>
          <a:p>
            <a:r>
              <a:t>4. LIFECYCLE LAYER — framed as a prototype concept that demonstrates the assistant continuing to add value after purchase (phone reminders, gym-bag checklist, replacement parts). Not a finished post-purchase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talking points:</a:t>
            </a:r>
          </a:p>
          <a:p>
            <a:r>
              <a:t>- React frontend talks to FastAPI backend over REST. The five scenes are Need Discovery, Clarification, 3 Curated Picks, Why-this-fits, Lifecycle.</a:t>
            </a:r>
          </a:p>
          <a:p>
            <a:r>
              <a:t>- FastAPI orchestrates Claude (language) and the Recommendation Engine (deterministic). Eight endpoints including /save and /lifecycle.</a:t>
            </a:r>
          </a:p>
          <a:p>
            <a:r>
              <a:t>- Claude Opus 4.6 is used at three call sites: parse free-text input, write personal product copy, parse refine intent. Each has a deterministic fallback so the demo runs without an API key — regex classifier for input, rule-&gt;text dictionary for copy, regex parser for refine.</a:t>
            </a:r>
          </a:p>
          <a:p>
            <a:r>
              <a:t>- Recommendation Engine is plain Python: filter, score, rank, curated 3 picks, factual tradeoff labels. It is never an LLM call. This is the trust boundary that anchors auditability.</a:t>
            </a:r>
          </a:p>
          <a:p>
            <a:r>
              <a:t>- Product DB is products_clean.json with 100 products across the three categories. ETL via Playwright is offline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 walkthrough (worked example):</a:t>
            </a:r>
          </a:p>
          <a:p>
            <a:r>
              <a:t>User intent: 'Reliable smart display, can wait on delivery, budget flexible'.</a:t>
            </a:r>
          </a:p>
          <a:p>
            <a:r>
              <a:t>GENERAL WEIGHTS (dynamic, derived from user priority): rating 50%, price 30%, delivery 20%.</a:t>
            </a:r>
          </a:p>
          <a:p>
            <a:r>
              <a:t>FEATURE WEIGHTS (smart_display): voice 40%, screen 30%, smart-home 20%, brand 10%.</a:t>
            </a:r>
          </a:p>
          <a:p>
            <a:r>
              <a:t>PRODUCTS:</a:t>
            </a:r>
          </a:p>
          <a:p>
            <a:r>
              <a:t>  Echo Show 8 ($79, 4.7 stars, 2-day) -&gt; Gen 85 / Feat 78 / Combined 82 -&gt; #1</a:t>
            </a:r>
          </a:p>
          <a:p>
            <a:r>
              <a:t>  Nest Hub 2nd Gen ($65, 4.5 stars, 3-day) -&gt; Gen 78 / Feat 82 / Combined 80 -&gt; #2</a:t>
            </a:r>
          </a:p>
          <a:p>
            <a:r>
              <a:t>  Echo Show 15 ($249) eliminated by $80 budget filter before scoring.</a:t>
            </a:r>
          </a:p>
          <a:p>
            <a:r>
              <a:t>Trust-boundary anchor: when the system must decide what to show, AI steps aside. Ranking is rule-based, reproducible, and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stack — talking points:</a:t>
            </a:r>
          </a:p>
          <a:p>
            <a:r>
              <a:t>ETL: scrapes 100 products via Playwright with anti-bot measures, normalises delivery copy ('arrives Mar 14' -&gt; 5 days). 72/100 delivery values were missing post-scrape and are flagged 'estimated'; descriptions for all 100 are flagged 'synthesised from title'. No silent fabrication.</a:t>
            </a:r>
          </a:p>
          <a:p/>
          <a:p>
            <a:r>
              <a:t>Attribute extraction: regex-based, runs at load time. Echo Show models map to known screen sizes (5 -&gt; 5.5", 8 -&gt; 8", 15 -&gt; 15.6"); ecosystems infer from Echo/Nest/HomePod keywords; bottle capacity from 'oz' patterns.</a:t>
            </a:r>
          </a:p>
          <a:p/>
          <a:p>
            <a:r>
              <a:t>Claude call sites in the runtime: parse free-text input, write personal copy, parse refine intent. All three have deterministic fallbacks so the demo runs without an API key. Ranking is never an LLM call.</a:t>
            </a:r>
          </a:p>
          <a:p/>
          <a:p>
            <a:r>
              <a:t>AI tooling across the build (disclosed honestly):</a:t>
            </a:r>
          </a:p>
          <a:p>
            <a:r>
              <a:t>- Runtime model:  Claude Opus 4.6 (anthropic SDK).</a:t>
            </a:r>
          </a:p>
          <a:p>
            <a:r>
              <a:t>- Pair-programming:  Claude Code agent on Opus 4.6 and 4.7 across the 12-week build.</a:t>
            </a:r>
          </a:p>
          <a:p>
            <a:r>
              <a:t>- Independent validation:  Codex GPT-5.5 was run as an independent technical reviewer to flag demo-safety issues.</a:t>
            </a:r>
          </a:p>
          <a:p>
            <a:r>
              <a:t>All three are named in the report's AI Contributions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script (matches the running app exactly):</a:t>
            </a:r>
          </a:p>
          <a:p/>
          <a:p>
            <a:r>
              <a:t>1. Type into Scene 1: 'current bottle is heavy and leaks in my gym bag'.</a:t>
            </a:r>
          </a:p>
          <a:p>
            <a:r>
              <a:t>   Observe: category auto-classified as water_bottle. The route also infers leak_proof_preferred=True from the word 'leaks'.</a:t>
            </a:r>
          </a:p>
          <a:p/>
          <a:p>
            <a:r>
              <a:t>2. Scene 2: pick three chips — Water Bottle / Gym / Large capacity. Skip the others. Hit 'See recommendations'.</a:t>
            </a:r>
          </a:p>
          <a:p/>
          <a:p>
            <a:r>
              <a:t>3. Scene 3: three differentiated picks render in a row.</a:t>
            </a:r>
          </a:p>
          <a:p>
            <a:r>
              <a:t>   - BEST FIT: Owala 24oz FreeSip — rules [gym_suitable, large_capacity_pref, leak_proof_match]. The Large-capacity preference is honoured (≥24oz) and leak-resistance is matched.</a:t>
            </a:r>
          </a:p>
          <a:p>
            <a:r>
              <a:t>   - BUDGET PICK: Zak Designs 19oz — labels [Cheapest, Most portable]. Honestly shows ✗ Large capacity (19oz) in its checklist.</a:t>
            </a:r>
          </a:p>
          <a:p>
            <a:r>
              <a:t>   - LARGE CAPACITY PICK: Owala 32oz FreeSip — labels [Most capacity, Most leakproof].</a:t>
            </a:r>
          </a:p>
          <a:p/>
          <a:p>
            <a:r>
              <a:t>4. Click 'See why' on Best Fit. Stage 4 quotes the user's frustration, lists the rule-grounded reasons, and shows the ✓/✗/? checklist of every preference.</a:t>
            </a:r>
          </a:p>
          <a:p/>
          <a:p>
            <a:r>
              <a:t>5. Refine: type 'larger'. The diff card shows size_preference None -&gt; large; Best Fit flips to 32oz. Demonstrates preference continuity.</a:t>
            </a:r>
          </a:p>
          <a:p/>
          <a:p>
            <a:r>
              <a:t>6. Click compare on 2-3 picks; the side-by-side overlay highlights the row-winner (lowest price, largest capacity, etc.) per attribute.</a:t>
            </a:r>
          </a:p>
          <a:p/>
          <a:p>
            <a:r>
              <a:t>7. Continue to Lifecycle (prototype). Phone reminders / gym-bag checklist / replacement parts — honest about what the bottle can/cannot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APPLIED RESEARCH PROJECT  ·  CAPSTONE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FFFFFF"/>
                </a:solidFill>
              </a:rPr>
              <a:t>A Decision-Oriented Conversational
Shopping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03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CADCFC"/>
                </a:solidFill>
              </a:rPr>
              <a:t>Preference Elicitation · Explainable Recommendations · Lifecycle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343400"/>
            <a:ext cx="107899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4805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6B7AB8"/>
                </a:solidFill>
              </a:rPr>
              <a:t>California State University, East Bay  ·  April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01  ·  INTRODUCTION &amp;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Information Retrieval  ≠  Decision Support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65376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55648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Cognitive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39696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must mentally juggle all constraints and trade-offs themselves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834640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035808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260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Vague, Evolving Needs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1012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Users rarely know exactly what they want when they start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005072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20624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096512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Preferences Get Overwritten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4805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Add a new constraint — your earlier choices are erased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75504"/>
            <a:ext cx="5394960" cy="107899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76672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266944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Missing Critical Info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650992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Delivery time, promos, and availability hidden or absent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1664208"/>
            <a:ext cx="5715000" cy="468172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830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CADCFC"/>
                </a:solidFill>
              </a:rPr>
              <a:t>The Decision Burden Falls on the User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2395728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200">
                <a:solidFill>
                  <a:srgbClr val="FFFFFF"/>
                </a:solidFill>
              </a:rPr>
              <a:t>Existing tools assume shopping is a search problem.
In reality, users face a decision problem —
and no platform is built to help them solve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566160"/>
            <a:ext cx="521208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370332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Decision fatigue increases with more options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429768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Users guess, settle, or abandon purchases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892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Post-purchase regret when trade-offs aren't clear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9632" y="548640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·  Trust erodes when recommendations have no rationale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5943600"/>
            <a:ext cx="5715000" cy="384048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597103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→  We built a system that addresses the decision — not just the search.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02  ·  THE MARKET &amp; THE GAPS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Existing Platforms — Where They Fall Short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2651760" cy="10972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Google
Shopping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Search &amp; filter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627632"/>
            <a:ext cx="2651760" cy="10972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Amazon
Rufus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chat in Amazon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504" y="1627632"/>
            <a:ext cx="2651760" cy="10972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ChatGPT
Shopping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Natural language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26296" y="1627632"/>
            <a:ext cx="2651760" cy="10972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1664208"/>
            <a:ext cx="24505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21284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CADCFC"/>
                </a:solidFill>
              </a:rPr>
              <a:t>AI answer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CADCFC"/>
                </a:solidFill>
              </a:rPr>
              <a:t>KEY GAPS ACROSS THE LANDSCAPE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Overwrites preferences mid-conversation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70832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62272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Assumes you already know what you want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38744" y="3218688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4" y="3291840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Missing delivery, promos &amp; availability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Text heavy — low information density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0832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 preference continuity across turns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3803904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4" y="3877056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Multiple steps to reach product page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Separates reasoning from shopping flow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0832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Opaque ranking — no explanation why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38744" y="4389120"/>
            <a:ext cx="3611880" cy="475488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4" y="4462272"/>
            <a:ext cx="34472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FFFFF"/>
                </a:solidFill>
              </a:rPr>
              <a:t>✗  Not built for first-time / cold-start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440680"/>
            <a:ext cx="11201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→  The common thread: no platform treats shopping as a decision problem.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Search-first tools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retrieve results,  not decisions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3308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AI chatbots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3308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converse,  but don't structure trade-offs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6144768"/>
            <a:ext cx="3429000" cy="45720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53528" y="6172200"/>
            <a:ext cx="32278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All surveyed platforms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53528" y="6355080"/>
            <a:ext cx="3227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FFFFFF"/>
                </a:solidFill>
              </a:rPr>
              <a:t>→  no preference continuity across turns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03  ·  COMPETITIVE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Capability Comparison Across Platforms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591056"/>
            <a:ext cx="2898648" cy="5303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Capability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Google
Shopping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Amazon
Rufus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ChatGPT
Shopping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591056"/>
            <a:ext cx="143560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Perplexity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1591056"/>
            <a:ext cx="1618488" cy="53035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664208"/>
            <a:ext cx="1554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Our
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5798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9514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Elicitation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26680" y="2157984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224942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2157984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9720" y="224942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68833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82549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Decision Modeling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3756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3756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6364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26680" y="2688336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80" y="277977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2688336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277977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218688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355848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Explainable 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3756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3756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060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6364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80" y="3218688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3310128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89720" y="3218688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3310128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3749040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3886200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Delivery / Promo Info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0060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80060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26680" y="3749040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26680" y="3840480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3749040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89720" y="3840480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4279392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416552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Preference Continuity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3756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33756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80060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80060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400">
                <a:solidFill>
                  <a:srgbClr val="6B7AB8"/>
                </a:solidFill>
              </a:rPr>
              <a:t>Partial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26680" y="4279392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726680" y="4370832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9720" y="4279392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9720" y="4370832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11480" y="4809744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946904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Side-by-Side Comparison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33756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3756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80060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80060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6364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6364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26680" y="4809744"/>
            <a:ext cx="143560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726680" y="4901184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89720" y="4809744"/>
            <a:ext cx="1618488" cy="493776"/>
          </a:xfrm>
          <a:prstGeom prst="rect">
            <a:avLst/>
          </a:prstGeom>
          <a:solidFill>
            <a:srgbClr val="E2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89720" y="4901184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340096"/>
            <a:ext cx="2898648" cy="493776"/>
          </a:xfrm>
          <a:prstGeom prst="rect">
            <a:avLst/>
          </a:prstGeom>
          <a:solidFill>
            <a:srgbClr val="D6DE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477256"/>
            <a:ext cx="2788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Lifecycle Support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3756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3756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0060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80060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6364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26680" y="5340096"/>
            <a:ext cx="143560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726680" y="5431536"/>
            <a:ext cx="143560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E74C3C"/>
                </a:solidFill>
              </a:rPr>
              <a:t>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189720" y="5340096"/>
            <a:ext cx="1618488" cy="493776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189720" y="5431536"/>
            <a:ext cx="161848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2ECC71"/>
                </a:solidFill>
              </a:rPr>
              <a:t>✓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11480" y="6080760"/>
            <a:ext cx="11338560" cy="39319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94360" y="6117336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  In our self-evaluation against these platforms, our system addresses all seven gaps.  Here is how we built it.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04  ·  OUR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Your Personal AI Shopping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64208"/>
            <a:ext cx="3474720" cy="4114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Understand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Frustration →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Decision-Relevant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ecosystem · placement · privacy ·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1664208"/>
            <a:ext cx="3474720" cy="4114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Remembers 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Preference Continuity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Visible Diff on Refine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“leaks” → leak-proof  ·  “heavy” → lightweight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664208"/>
            <a:ext cx="3474720" cy="4114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18288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400">
                <a:solidFill>
                  <a:srgbClr val="FFFFFF"/>
                </a:solidFill>
              </a:rPr>
              <a:t>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670048"/>
            <a:ext cx="3273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FFFFFF"/>
                </a:solidFill>
              </a:rPr>
              <a:t>Clear Decisions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323697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3 Curated Picks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87705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CADCFC"/>
                </a:solidFill>
              </a:rPr>
              <a:t>Why-this-fits  ·  Compare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2303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Best Fit · Budget Pick · Stretch Pick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25312"/>
            <a:ext cx="11109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FFFFF"/>
                </a:solidFill>
              </a:rPr>
              <a:t>🏠  Lifecycle Layer (prototype)  —  Realistic post-purchase support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05A  ·  CONCEPTUAL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200">
                <a:solidFill>
                  <a:srgbClr val="1E2761"/>
                </a:solidFill>
              </a:rPr>
              <a:t>Five-Layer Decision Support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Preference
Elicitation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Transforms vague needs
into structured inputs
via conversational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Decision
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Multi-criteria model:
hard constraints +
weighted soft preferences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Recommendation
&amp; Ranking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Constraint-aware ranking
of feasible products;
no click-prediction bias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0336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1856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1776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Explainability
&amp; Interaction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Why this fits, what
you give up — trade-offs
made transparent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265176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800">
                <a:solidFill>
                  <a:srgbClr val="1E2761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28048" y="1600200"/>
            <a:ext cx="2011680" cy="34747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59568" y="166420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600">
                <a:solidFill>
                  <a:srgbClr val="CADCFC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9488" y="224028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CADCFC"/>
                </a:solidFill>
              </a:rPr>
              <a:t>Lifecycle
Support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7776" y="3154680"/>
            <a:ext cx="18105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1A1A2E"/>
                </a:solidFill>
              </a:rPr>
              <a:t>Post-purchase value:
meal planning, scheduling,
decision reinforcement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6B7AB8"/>
                </a:solidFill>
              </a:rPr>
              <a:t>End-to-end: vague need → structured decision → ranked products → explained trade-offs → lifecycle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05B  ·  RUNTIME ARCHITECTURE — TECH &amp;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Components &amp; How They Communicate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719072"/>
            <a:ext cx="256032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01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React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9424"/>
            <a:ext cx="23408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Stage 1 — Need Discovery
Stage 2 — Clarification Q&amp;A
Stage 3 — 3 Curated Picks
Stage 4 — Why This Fits
Stage 5 —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719072"/>
            <a:ext cx="3383280" cy="18288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801368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942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100">
                <a:solidFill>
                  <a:srgbClr val="CADCFC"/>
                </a:solidFill>
              </a:rPr>
              <a:t>/start  /answer  /recommend
/refine  /save  /lifecycle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7980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FFFFFF"/>
                </a:solidFill>
              </a:rPr>
              <a:t>Orchestrates all logic + deterministic
fallbacks (regex refine, classifier)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719072"/>
            <a:ext cx="3063240" cy="18288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80136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FFFFF"/>
                </a:solidFill>
              </a:rPr>
              <a:t>Claude Opus 4.6  (AI)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249424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Parse free-text input
Write personal copy
Parse refine intent
(deterministic fallback per call)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114800"/>
            <a:ext cx="2560320" cy="164592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Recommendation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Filter · score · rank
Curated 3 picks
Tradeoff labels (factual)
Deterministic — no 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4114800"/>
            <a:ext cx="2560320" cy="1645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19709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Product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44768" y="4645152"/>
            <a:ext cx="234086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products_clean.json
100 products · 3 categories
Smart Display · Water Bottle
Kitchen Organizer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114800"/>
            <a:ext cx="2743200" cy="16459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0" y="41970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ETL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8" y="4645152"/>
            <a:ext cx="25237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Playwright scrapers
Amazon · Target
Normalize &amp; deduplicate
Offline batch feed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2505456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50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22951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REST calls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2724912"/>
            <a:ext cx="137160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2549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278892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2505456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39572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2295144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msg + context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2724912"/>
            <a:ext cx="11887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0376" y="263347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2788920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AI response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30900" y="3547872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80560" y="3818636"/>
            <a:ext cx="283464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46786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02500" y="3831336"/>
            <a:ext cx="25400" cy="283464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3913632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36027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profile + products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38679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ranked list 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602736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6B7AB8"/>
                </a:solidFill>
              </a:rPr>
              <a:t>query feasible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925060"/>
            <a:ext cx="274320" cy="254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9145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CADCFC"/>
                </a:solidFill>
              </a:rPr>
              <a:t>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0" y="470916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6B7AB8"/>
                </a:solidFill>
              </a:rPr>
              <a:t>offline feed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06  ·  RECOMMENDATION ALGORITHM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E2761"/>
                </a:solidFill>
              </a:rPr>
              <a:t>The Deterministic Core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Free-Text Parsing (with regex fallback)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15384" y="1444752"/>
            <a:ext cx="3730752" cy="384048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4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⚙️  Rule-Based — Ranking · Picks ·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444752"/>
            <a:ext cx="3730752" cy="384048"/>
          </a:xfrm>
          <a:prstGeom prst="rect">
            <a:avLst/>
          </a:prstGeom>
          <a:solidFill>
            <a:srgbClr val="6B7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1499616"/>
            <a:ext cx="37307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FFFFF"/>
                </a:solidFill>
              </a:rPr>
              <a:t>🤖  Claude — Personal Copy (with grounded fallback)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93392"/>
            <a:ext cx="5257800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2048256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①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2359152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CADCFC"/>
                </a:solidFill>
              </a:rPr>
              <a:t>Apply hard constraints (budget, delivery, no-camera).
Non-matches drop out before scoring.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8940" y="2816352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90088"/>
            <a:ext cx="5257800" cy="86868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3044952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②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3355848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General: rating · price · delivery (weights from priority)
Feature: category rules (voice · screen · privacy · 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8940" y="3813048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86784"/>
            <a:ext cx="5257800" cy="868680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" y="4041648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③ 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" y="4352544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Combined = General + category bonus.
Sort top-N descending.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8940" y="4809744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1E2761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983480"/>
            <a:ext cx="5257800" cy="86868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5038344"/>
            <a:ext cx="50566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④ Curate 3 Picks + Labels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5349240"/>
            <a:ext cx="505663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Best Fit · Budget Pick · Stretch.
Factual labels (Cheapest, Most leakproof) — only when true.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1993392"/>
            <a:ext cx="5852160" cy="42062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202996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FFFFF"/>
                </a:solidFill>
              </a:rPr>
              <a:t>Example — User intent: “Reliable smart display · Can wait on delivery · Budget flexible”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50545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GENERAL WEIGHTS  —  dynamic, derived from this user's priorities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2743200"/>
            <a:ext cx="1828800" cy="329184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Rating  50%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64424" y="2743200"/>
            <a:ext cx="1828800" cy="329184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64424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Price  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48088" y="2743200"/>
            <a:ext cx="1828800" cy="32918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48088" y="27614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FFFFFF"/>
                </a:solidFill>
              </a:rPr>
              <a:t>Delivery  20%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3163824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FEATURE WEIGHTS  —  category-specific  (smart displays)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Voice  40%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88936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88936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Screen  30%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897112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97112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Smart Home  20%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05288" y="3401568"/>
            <a:ext cx="1353312" cy="329184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05288" y="3419856"/>
            <a:ext cx="13533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50">
                <a:solidFill>
                  <a:srgbClr val="CADCFC"/>
                </a:solidFill>
              </a:rPr>
              <a:t>Brand  10%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3840480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3840480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07608" y="4041648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7804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41696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$79 · 4.7★ · 2-day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21240" y="389534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85  ·  Feat: 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416966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82   →  #1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4553712"/>
            <a:ext cx="5852160" cy="658368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4553712"/>
            <a:ext cx="1097280" cy="65836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07608" y="4754880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✓  PASS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7804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Google Nest Hub (2nd Gen)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78040" y="488289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$65 · 4.5★ · 3-day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21240" y="46085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Gen: 78  ·  Feat: 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1240" y="488289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1E2761"/>
                </a:solidFill>
              </a:rPr>
              <a:t>Combined: 80   → 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89320" y="5266944"/>
            <a:ext cx="585216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5266944"/>
            <a:ext cx="1097280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07608" y="546811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FFFFF"/>
                </a:solidFill>
              </a:rPr>
              <a:t>✗  ELIMINATED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7804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1A1A2E"/>
                </a:solidFill>
              </a:rPr>
              <a:t>Amazon Echo Show 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78040" y="55961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00">
                <a:solidFill>
                  <a:srgbClr val="6B7AB8"/>
                </a:solidFill>
              </a:rPr>
              <a:t>$249 · 4.8★ · 2-day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5321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50">
                <a:solidFill>
                  <a:srgbClr val="1A1A2E"/>
                </a:solidFill>
              </a:rPr>
              <a:t>$249 &gt; $80 budget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21240" y="55961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1000">
                <a:solidFill>
                  <a:srgbClr val="E74C3C"/>
                </a:solidFill>
              </a:rPr>
              <a:t>Eliminated before scoring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989320"/>
            <a:ext cx="11338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016752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CADCFC"/>
                </a:solidFill>
              </a:rPr>
              <a:t>When the system must decide what to show the user, AI steps aside.  Ranking is rule-based, reproducible, and auditable — trust is anchored here.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07  ·  DATA, AI &amp; 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The Supporting Stack — What Feeds the Decision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5577840" cy="2267712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ETL  +  Provenance Flags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Playwright scrapers  ·  Amazon · Target
Anti-bot stealth · normalize · dedup
Each field flagged: scraped vs estimated
vs synthesised — no silent fabrication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100 products  ·  3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664208"/>
            <a:ext cx="5577840" cy="226771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6792" y="173736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Attribute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213969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screen_inches · ecosystems · has_camera
mounting · capacity_oz · bottle_material
drinking_style · organiser_material
Pulled from titles at load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62102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feeds ranker, picks, compare 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41648"/>
            <a:ext cx="5577840" cy="2267712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Claude Opus 4.6  —  3 Call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Parse free-text input
②  Write personal product copy
③  Parse refine intent
Every call has a deterministic fallback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Never on the ranking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041648"/>
            <a:ext cx="5577840" cy="2267712"/>
          </a:xfrm>
          <a:prstGeom prst="rect">
            <a:avLst/>
          </a:prstGeom>
          <a:solidFill>
            <a:srgbClr val="C05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411480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React Frontend  —  5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4517136"/>
            <a:ext cx="5349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FFFFF"/>
                </a:solidFill>
              </a:rPr>
              <a:t>①  Need Discovery
②  Clarification Q&amp;A
③  3 Curated Picks
④  Why This Fits  (rule-grounded checklist)
⑤  Lifecycle  (prototype value-extension)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998464"/>
            <a:ext cx="5349240" cy="2560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600760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+ Compare overlay · Save-for-later · Diff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446520"/>
            <a:ext cx="11338560" cy="32918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648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00">
                <a:solidFill>
                  <a:srgbClr val="CADCFC"/>
                </a:solidFill>
              </a:rPr>
              <a:t>AI tooling:  Runtime  Claude Opus 4.6   ·   Build  Claude Code (Opus 4.6 / 4.7)   ·   Independent validation  Codex GPT-5.5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CADCFC"/>
                </a:solidFill>
              </a:rPr>
              <a:t>08  ·  RESULTS &amp;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400">
                <a:solidFill>
                  <a:srgbClr val="FFFFFF"/>
                </a:solidFill>
              </a:rPr>
              <a:t>Capability Validation &amp; Scenario Walkthrough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5669280" cy="438912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Capability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860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Capability gaps (self-evaluation)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151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7 of 7 gaps addressed in our walkthroughs;
no surveyed platform addressed more than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Decision-critical attributes inline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5295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Screen size, ecosystem, camera, capacity,
material — surfaced on every pick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End-to-end in five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4439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Need → clarify → 3 picks → why-this-fits →
lifecycle. Zero external page navigation.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029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2ECC71"/>
                </a:solidFill>
              </a:rPr>
              <a:t>✓  Trade-offs visible, not hidden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58384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Every pick shows a ✓/✗/? checklist mapping
your chips to match status — no surprises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664208"/>
            <a:ext cx="5394960" cy="4389120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CADCFC"/>
                </a:solidFill>
              </a:rPr>
              <a:t>Demo — Water-Bottle 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4028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①  Need Discovery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514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“Current bottle is heavy and leaks
in my gym bag.”  → water_bottle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②  Clarification (3 chips)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2918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Gym · Large capacity · (leak inferred
from 'leaks' in the input)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③  3 Curated Picks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690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Best Fit  Owala 24oz FreeSip
rules: gym_suitable · large_capacity_pref · leak_proof_match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④  Picks — labels + checklist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84632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Budget Pick: Zak 19oz [Cheapest · Most portable]
Stretch: Owala 32oz [Most capacity · Most leakproof]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4924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CADCFC"/>
                </a:solidFill>
              </a:rPr>
              <a:t>⑤  Refine +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FFFFFF"/>
                </a:solidFill>
              </a:rPr>
              <a:t>‘larger’ → flips Best Fit to 32oz · diff card shown
Select 3, compare side-by-side with row-winners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99632"/>
            <a:ext cx="10469880" cy="384048"/>
          </a:xfrm>
          <a:prstGeom prst="rect">
            <a:avLst/>
          </a:prstGeom>
          <a:solidFill>
            <a:srgbClr val="2A3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236208"/>
            <a:ext cx="10469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000">
                <a:solidFill>
                  <a:srgbClr val="CADCFC"/>
                </a:solidFill>
              </a:rPr>
              <a:t>Heuristic self-assessment against the seven capability gaps in our evaluation  ·  formal user study is future work (see Slide 11)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1E2761"/>
                </a:solidFill>
              </a:rPr>
              <a:t>09  ·  LIMITATIONS, CONCLUSIONS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E2761"/>
                </a:solidFill>
              </a:rPr>
              <a:t>Honest Assessment · What This Proves · Next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47120" cy="1905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3657600" cy="4800600"/>
          </a:xfrm>
          <a:prstGeom prst="rect">
            <a:avLst/>
          </a:prstGeom>
          <a:solidFill>
            <a:srgbClr val="6B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664208"/>
            <a:ext cx="3657600" cy="4800600"/>
          </a:xfrm>
          <a:prstGeom prst="rect">
            <a:avLst/>
          </a:prstGeom>
          <a:solidFill>
            <a:srgbClr val="3A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Conclusions &amp;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1664208"/>
            <a:ext cx="3657600" cy="48006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55648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Small dataset — 100 products,
    3 categories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No formal user study —
    heuristic evaluation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72/100 delivery values are
    estimated (flagged in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⚠  Rule-based ranking — weights
    inferred, not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Decision support feasible
    end-to-end without an LLM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Explanations grounded in the
    same rules the ranker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Visible preference continuity —
    every refine shows a diff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Lifecycle layer is a prototype
    value-extension concept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✓  Multi-model workflow disclosed:
    Opus 4.6 + 4.7 build · Codex 5.5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258568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Formal user study
    (SUS, task completion time)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063240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Live retailer API
    for real-time 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3867912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ML-based ranking
    from interaction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4672584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Expand to more
    product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5477256"/>
            <a:ext cx="34564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FFFFFF"/>
                </a:solidFill>
              </a:rPr>
              <a:t>→  Mobile-first UI
    redesign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9AA8CC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00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200">
                <a:solidFill>
                  <a:srgbClr val="CADCFC"/>
                </a:solidFill>
              </a:rPr>
              <a:t>Questions &amp;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10332720" cy="1905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4290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Author: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34290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Chenghui 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9776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Institution: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977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California State University, East Bay (CSUEB)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5262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Project: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45262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Decision-Oriented Conversational Shopping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074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Runtime: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5074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React · FastAPI · Claude Opus 4.6 · Python · Playwright (ETL)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623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CADCFC"/>
                </a:solidFill>
              </a:rPr>
              <a:t>Built with: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56235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FFFFFF"/>
                </a:solidFill>
              </a:rPr>
              <a:t>Claude Code (Opus 4.6 / 4.7)  ·  Codex GPT-5.5  (independent validation)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465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900">
                <a:solidFill>
                  <a:srgbClr val="6B7A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