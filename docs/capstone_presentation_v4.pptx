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APPLIED RESEARCH PROJECT  ·  CAPSTONE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400">
                <a:solidFill>
                  <a:srgbClr val="FFFFFF"/>
                </a:solidFill>
              </a:rPr>
              <a:t>A Decision-Oriented Conversational
Shopping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CADCFC"/>
                </a:solidFill>
              </a:rPr>
              <a:t>Preference Elicitation · Explainable Recommendations · Lifecycle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43400"/>
            <a:ext cx="107899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6B7AB8"/>
                </a:solidFill>
              </a:rPr>
              <a:t>California State University, East Bay  ·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01  ·  INTRODUCTION &amp;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Information Retrieval  ≠  Decision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653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Cognitive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396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Users must mentally juggle all constraints and trade-offs themselves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34640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Vague, Evolving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0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Users rarely know exactly what they want when they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05072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96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Preferences Get Overwritten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Add a new constraint — your earlier choices are erased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175504"/>
            <a:ext cx="5394960" cy="107899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766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66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Missing Critical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509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Delivery time, promos, and availability hidden or absent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664208"/>
            <a:ext cx="5715000" cy="4681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783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CADCFC"/>
                </a:solidFill>
              </a:rPr>
              <a:t>The Decision Burden Falls on the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39572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FFFFFF"/>
                </a:solidFill>
              </a:rPr>
              <a:t>Existing tools assume shopping is a search problem.
In reality, users face a decision problem —
and no platform is built to help them solve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521208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7033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Decision fatigue increases with more options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297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Users guess, settle, or abandon purchases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8920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Post-purchase regret when trade-offs aren't 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5486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·  Trust erodes when recommendations have no rationale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943600"/>
            <a:ext cx="5715000" cy="384048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5971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→  We built a system that addresses the decision — not just the search.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02  ·  THE MARKET &amp; THE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Existing Platforms — Where They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65176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Google
Shopping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Search &amp;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627632"/>
            <a:ext cx="2651760" cy="10972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Amazon
Rufus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AI chat in Amazon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627632"/>
            <a:ext cx="2651760" cy="10972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ChatGPT
Shopping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Natural language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627632"/>
            <a:ext cx="2651760" cy="109728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664208"/>
            <a:ext cx="2450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212848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CADCFC"/>
                </a:solidFill>
              </a:rPr>
              <a:t>AI answer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CADCFC"/>
                </a:solidFill>
              </a:rPr>
              <a:t>KEY GAPS ACROSS THE LANDSCAPE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Overwrites preferences mid-conversation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Assumes you already know what you want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3218688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291840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Missing delivery, promos &amp; 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Text heavy — low information density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No preference continuity across turns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803904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3877056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Multiple steps to reach product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Separates reasoning from shopping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Opaque ranking — no explanation why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8744" y="4389120"/>
            <a:ext cx="3611880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4462272"/>
            <a:ext cx="3447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FFFFF"/>
                </a:solidFill>
              </a:rPr>
              <a:t>✗  Not built for first-time / cold-start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40680"/>
            <a:ext cx="11201400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40680"/>
            <a:ext cx="11201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→  The common thread: no platform treats shopping as a decision problem.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Search-first 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retrieve results,  not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3308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AI chatbots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converse,  but don't structure trade-offs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6144768"/>
            <a:ext cx="3429000" cy="45720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53528" y="617220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All surveyed platforms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635508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</a:rPr>
              <a:t>→  no preference continuity across turns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03  ·  COMPETITIVE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Capability Comparison Across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91056"/>
            <a:ext cx="2898648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Google
Shopping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Amazon
Rufus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ChatGPT
Shopping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1591056"/>
            <a:ext cx="143560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664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Perplexity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591056"/>
            <a:ext cx="1618488" cy="53035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664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CADCFC"/>
                </a:solidFill>
              </a:rPr>
              <a:t>Our
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57984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95144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Preference Elicitation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2157984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24942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157984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2249424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688336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825496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Decision Modeling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2688336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77977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688336"/>
            <a:ext cx="161848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779776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218688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355848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Explainable Recommendations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80" y="3218688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3310128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3218688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3310128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749040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886200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Delivery / Promo Info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80" y="3749040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26680" y="3840480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3749040"/>
            <a:ext cx="161848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89720" y="3840480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279392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416552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Preference Continuity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3756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3756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0060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060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7AB8"/>
                </a:solidFill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6680" y="4279392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26680" y="4370832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9720" y="4279392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89720" y="4370832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4809744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4946904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Side-by-Side Comparison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3756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0060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0060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6364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26680" y="4809744"/>
            <a:ext cx="143560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26680" y="4901184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4809744"/>
            <a:ext cx="1618488" cy="493776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89720" y="4901184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5340096"/>
            <a:ext cx="2898648" cy="493776"/>
          </a:xfrm>
          <a:prstGeom prst="rect">
            <a:avLst/>
          </a:prstGeom>
          <a:solidFill>
            <a:srgbClr val="D6D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5477256"/>
            <a:ext cx="2788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Lifecycle Support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3756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3756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0060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0060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6364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26680" y="5340096"/>
            <a:ext cx="143560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26680" y="5431536"/>
            <a:ext cx="1435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9720" y="5340096"/>
            <a:ext cx="1618488" cy="493776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89720" y="5431536"/>
            <a:ext cx="1618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" y="6080760"/>
            <a:ext cx="11338560" cy="3931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4360" y="611733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  Our system is the only one that addresses all seven gaps simultaneously.  Here is how we built it.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04  ·  OUR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Your Personal AI Shopping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474720" cy="4114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Understand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Real Frustration →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Decision-Relevant Q&amp;A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1713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17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Multi-Select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ecosystem · placement · privacy · screen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664208"/>
            <a:ext cx="3474720" cy="4114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Built for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Preference Continuity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Visible Diff on Refine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51713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517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Inferred From Free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“leaks” → leak-proof  ·  “heavy” → lightweight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64208"/>
            <a:ext cx="3474720" cy="4114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1828800"/>
            <a:ext cx="9144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2670048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</a:rPr>
              <a:t>Clear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323697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3 Curated Picks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87705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8770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Side-by-Side Compare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4517136"/>
            <a:ext cx="30175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5171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CADCFC"/>
                </a:solidFill>
              </a:rPr>
              <a:t>Match Checklist (✓ ✗ ?)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230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Best Fit · Budget Pick · Stretch Pick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925312"/>
            <a:ext cx="11109960" cy="530352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25312"/>
            <a:ext cx="1110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🏠  Lifecycle Support  —  Value continues long after the purchase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05A  ·  CONCEPTUAL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1E2761"/>
                </a:solidFill>
              </a:rPr>
              <a:t>Five-Layer Decision Support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Preference
Elicitation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Transforms vague needs
into structured inputs
via conversational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Decision
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Multi-criteria model:
hard constraints +
weighted soft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24144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Recommendation
&amp;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Constraint-aware ranking
of feasible products;
no click-prediction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Explainability
&amp; 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Why this fits, what
you give up — trade-offs
made transparent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1E2761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1600200"/>
            <a:ext cx="2011680" cy="34747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664208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8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CADCFC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CADCFC"/>
                </a:solidFill>
              </a:rPr>
              <a:t>Lifecycle
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3154680"/>
            <a:ext cx="1810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A1A2E"/>
                </a:solidFill>
              </a:rPr>
              <a:t>Post-purchase value:
meal planning, scheduling,
decision reinforcement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6B7AB8"/>
                </a:solidFill>
              </a:rPr>
              <a:t>End-to-end: vague need → structured decision → ranked products → explained trade-offs → lifecycle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05B  ·  RUNTIME ARCHITECTURE — TECH &amp;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Components &amp; How They Communicate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256032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49424"/>
            <a:ext cx="2340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Stage 1 — Need Discovery
Stage 2 — Clarification Q&amp;A
Stage 3 — 3 Curated Picks
Stage 4 — Why This Fits
Stage 5 — 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19072"/>
            <a:ext cx="3383280" cy="18288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013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9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CADCFC"/>
                </a:solidFill>
              </a:rPr>
              <a:t>/start  /answer  /recommend
/refine  /save  /lifecycle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980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FFFFFF"/>
                </a:solidFill>
              </a:rPr>
              <a:t>Orchestrates all logic + deterministic
fallbacks (regex refine, classifier)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719072"/>
            <a:ext cx="3063240" cy="1828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80136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Claude Opus 4.7  (AI)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24942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Parse free-text preferences
Map free-text answers
Write per-product copy
Parse refine intent
(every call has a fallback)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14800"/>
            <a:ext cx="2560320" cy="164592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197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645152"/>
            <a:ext cx="2340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Filter · score · rank
Curated 3 picks
Tradeoff labels (factual)
Deterministic — no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114800"/>
            <a:ext cx="2560320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197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Product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645152"/>
            <a:ext cx="2340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products_clean.json
100 products · 3 categories
Smart Display · Water Bottle
Kitchen Organizer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4114800"/>
            <a:ext cx="2743200" cy="164592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1970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ETL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645152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Playwright scrapers
Amazon · Target
Normalize &amp; deduplicate
Offline batch feed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2505456"/>
            <a:ext cx="13716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0792" y="23957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295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REST 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2724912"/>
            <a:ext cx="13716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5496" y="26334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2505456"/>
            <a:ext cx="11887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3957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29514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msg +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2724912"/>
            <a:ext cx="11887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0376" y="26334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788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AI response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30900" y="3547872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80560" y="3818636"/>
            <a:ext cx="283464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67860" y="3831336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9136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02500" y="3831336"/>
            <a:ext cx="25400" cy="2834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391363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6027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profile + 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867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ranked list 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602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AB8"/>
                </a:solidFill>
              </a:rPr>
              <a:t>query feasible set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4925060"/>
            <a:ext cx="27432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0496" y="479145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CADCFC"/>
                </a:solidFill>
              </a:rPr>
              <a:t>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916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6B7AB8"/>
                </a:solidFill>
              </a:rPr>
              <a:t>offline feed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06  ·  RECOMMENDATION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1E2761"/>
                </a:solidFill>
              </a:rPr>
              <a:t>The Deterministic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44752"/>
            <a:ext cx="3730752" cy="384048"/>
          </a:xfrm>
          <a:prstGeom prst="rect">
            <a:avLst/>
          </a:prstGeom>
          <a:solidFill>
            <a:srgbClr val="6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🤖  Claude — Free-Text Parsing (with regex fallback)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444752"/>
            <a:ext cx="3730752" cy="384048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⚙️  Rule-Based — Ranking · Picks · 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444752"/>
            <a:ext cx="3730752" cy="384048"/>
          </a:xfrm>
          <a:prstGeom prst="rect">
            <a:avLst/>
          </a:prstGeom>
          <a:solidFill>
            <a:srgbClr val="6B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1499616"/>
            <a:ext cx="3730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🤖  Claude — Personal Copy (with grounded fallback)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93392"/>
            <a:ext cx="5257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048256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① Hard Constraint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359152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CADCFC"/>
                </a:solidFill>
              </a:rPr>
              <a:t>Budget ceiling · delivery deadline — non-negotiable.
Eliminated before scoring, no exceptions.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8940" y="2816352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90088"/>
            <a:ext cx="5257800" cy="86868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044952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② Build Feasible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355848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Only products satisfying ALL hard constraints proceed.
Typically reduces 100 products to 10–20 candidates.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8940" y="3813048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86784"/>
            <a:ext cx="5257800" cy="868680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041648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③ Two-Tier Weighted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352544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General: rating · price · delivery  (weights from user priorities — not fixed)
Feature: category-specific attributes  (voice · screen · smart-home · brand)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8940" y="4809744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E2761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83480"/>
            <a:ext cx="5257800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503834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④ Ranked Output → 3 Curated Picks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5349240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Combined = General + category bonus.  Differentiated picks:
Best Fit · Budget Pick · Stretch (Largest Screen / Most Capacity / Best Visibility).
Factual tradeoff labels (Cheapest, Most leakproof) only when true within the shown set.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1993392"/>
            <a:ext cx="5852160" cy="420624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0299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Example — User intent: “Reliable smart display · Can wait on delivery · Budget flexible”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5054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GENERAL WEIGHTS  —  dynamic, derived from this user's priorities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743200"/>
            <a:ext cx="1828800" cy="329184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Rating  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4" y="2743200"/>
            <a:ext cx="1828800" cy="329184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4424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Price  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8088" y="2743200"/>
            <a:ext cx="182880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48088" y="2761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Delivery 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16382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FEATURE WEIGHTS  —  category-specific  (smart displays)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Voice  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88936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Screen  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7112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Smart Home  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05288" y="3401568"/>
            <a:ext cx="1353312" cy="329184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5288" y="341985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50">
                <a:solidFill>
                  <a:srgbClr val="CADCFC"/>
                </a:solidFill>
              </a:rPr>
              <a:t>Brand  10%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840480"/>
            <a:ext cx="585216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89320" y="3840480"/>
            <a:ext cx="1097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4041648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✓  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8770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Amazon Echo Show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1696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$79 · 4.7★ · 2-day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1240" y="3895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Gen: 85  ·  Feat: 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1E2761"/>
                </a:solidFill>
              </a:rPr>
              <a:t>Combined: 82   →  #1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553712"/>
            <a:ext cx="5852160" cy="658368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4553712"/>
            <a:ext cx="1097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07608" y="4754880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✓  PASS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590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Google Nest Hub (2nd Gen)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8828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$65 · 4.5★ · 3-day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Gen: 78  ·  Feat: 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4882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1E2761"/>
                </a:solidFill>
              </a:rPr>
              <a:t>Combined: 80   →  #2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266944"/>
            <a:ext cx="5852160" cy="658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89320" y="5266944"/>
            <a:ext cx="1097280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07608" y="54681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✗  ELIMINATED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A1A2E"/>
                </a:solidFill>
              </a:rPr>
              <a:t>Amazon Echo Show 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55961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AB8"/>
                </a:solidFill>
              </a:rPr>
              <a:t>$249 · 4.8★ · 2-day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50">
                <a:solidFill>
                  <a:srgbClr val="1A1A2E"/>
                </a:solidFill>
              </a:rPr>
              <a:t>$249 &gt; $80 budget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5596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00">
                <a:solidFill>
                  <a:srgbClr val="E74C3C"/>
                </a:solidFill>
              </a:rPr>
              <a:t>Eliminated before scoring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0167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ADCFC"/>
                </a:solidFill>
              </a:rPr>
              <a:t>When the system must decide what to show the user, AI steps aside.  Ranking is rule-based, reproducible, and auditable — trust is anchored here.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07  ·  DATA, AI &amp;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</a:rPr>
              <a:t>The Supporting Stack — What Feeds the Decision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577840" cy="2267712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ETL  +  Provenance-Flagged Backfill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969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Playwright scrapers  ·  Amazon · Target
Anti-bot stealth · human-like delays
Normalize: price, rating, delivery, dedup
Backfill flagged: scraped vs estimated vs synthesised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362102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630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100 products  ·  every field has provenance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64208"/>
            <a:ext cx="5577840" cy="22677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373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Attribute Extraction (load-time)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13969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Echo Show 5/8/15 → screen_inches  ·  ecosystems
has_camera  ·  mounting (wall/counter/tilt)
capacity_oz  ·  bottle_material  ·  drinking_style
organizer_material  ·  organizer_visibility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2102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30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feeds ranker, picks, and comparison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41648"/>
            <a:ext cx="5577840" cy="22677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Claude Opus 4.7  —  3 Call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①  Parse free-text → category + preferences
②  Map free-text answers → structured values
③  Write personal copy + parse refine intent
Every call has a deterministic fallback —
the demo runs end-to-end without an API key.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599846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007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Never on the ranking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4041648"/>
            <a:ext cx="5577840" cy="2267712"/>
          </a:xfrm>
          <a:prstGeom prst="rect">
            <a:avLst/>
          </a:prstGeom>
          <a:solidFill>
            <a:srgbClr val="C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114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React Frontend  —  5 Stages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517136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FFFFF"/>
                </a:solidFill>
              </a:rPr>
              <a:t>①  Need Discovery  —  situational context
②  Clarification Q&amp;A  —  6 decision-relevant chips
③  3 Curated Picks  —  Best Fit · Budget · Stretch
④  Why This Fits  —  rule-grounded checklist
⑤  Lifecycle  —  realistic post-purchase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998464"/>
            <a:ext cx="534924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60076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+ Comparison overlay  ·  Save-for-later  ·  Diff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CADCFC"/>
                </a:solidFill>
              </a:rPr>
              <a:t>08  ·  RESULTS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</a:rPr>
              <a:t>Capability Validation &amp; Scenario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5669280" cy="438912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Capability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Capability gaps 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7 of 7 gaps resolved — no competing platform
addresses more than 2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Information completeness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Decision-critical attributes surfaced inline:
screen size, ecosystem, camera, capacity,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Interaction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439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End-to-end decision in 5 stages, zero
external page navigation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2ECC71"/>
                </a:solidFill>
              </a:rPr>
              <a:t>✓  Decision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58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Every pick shows a ✓/✗/? checklist mapping each
user preference to a match status — no surprises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664208"/>
            <a:ext cx="5394960" cy="4389120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CADCFC"/>
                </a:solidFill>
              </a:rPr>
              <a:t>Demo — Water-Bottle 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402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①  Need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“Current bottle is heavy and leaks
in my gym bag.”  → water_bottle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②  Clarification (6 chips)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Gym · Stainless · FreeSip · Insulated
Large capacity · Under $40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③  3 Curated Picks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690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Best Fit Owala 24oz FreeSip · Budget Zak 19oz
Stretch Owala 32oz [Most capacity, Most leakproof]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④  Why +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46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5 rule-grounded reasons + ✓/✗/? per chip.
Budget Pick honestly shows ✗ Large capacity (19oz).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492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CADCFC"/>
                </a:solidFill>
              </a:rPr>
              <a:t>⑤  Refine + 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623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FFFFFF"/>
                </a:solidFill>
              </a:rPr>
              <a:t>‘larger’ → flips Best Fit to 32oz.
Compare 3 finalists side-by-side.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199632"/>
            <a:ext cx="10469880" cy="384048"/>
          </a:xfrm>
          <a:prstGeom prst="rect">
            <a:avLst/>
          </a:prstGeom>
          <a:solidFill>
            <a:srgbClr val="2A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236208"/>
            <a:ext cx="10469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ADCFC"/>
                </a:solidFill>
              </a:rPr>
              <a:t>Heuristic self-assessment against the seven capability gaps  ·  formal user study is future work (see Slide 11)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E2761"/>
                </a:solidFill>
              </a:rPr>
              <a:t>09  ·  LIMITATIONS, 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E2761"/>
                </a:solidFill>
              </a:rPr>
              <a:t>Honest Assessment · What This Proves ·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47120" cy="190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3657600" cy="4800600"/>
          </a:xfrm>
          <a:prstGeom prst="rect">
            <a:avLst/>
          </a:prstGeom>
          <a:solidFill>
            <a:srgbClr val="6B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64208"/>
            <a:ext cx="3657600" cy="4800600"/>
          </a:xfrm>
          <a:prstGeom prst="rect">
            <a:avLst/>
          </a:prstGeom>
          <a:solidFill>
            <a:srgbClr val="3A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Conclusions &amp;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64208"/>
            <a:ext cx="3657600" cy="4800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75564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Small dataset — 100 products,
    3 categories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No formal user study —
    heuristic evaluation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72/100 delivery values are
    estimated (flagged in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⚠  Rule-based ranking — weights
    inferred, not learned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Decision support feasible
    end-to-end without an LLM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Explanations grounded in the
    same rules the ranker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Visible preference continuity —
    every refine shows a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Honest about what's possible —
    realistic post-purchase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5477256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✓  Generalisable: same pattern
    across all 3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258568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Formal user study
    (SUS, task completion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063240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Live retailer API
    for real-time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867912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ML-based ranking
    from interaction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4672584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Expand to more
    product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5477256"/>
            <a:ext cx="3456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FFFFF"/>
                </a:solidFill>
              </a:rPr>
              <a:t>→  Mobile-first UI
    redesign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9AA8CC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6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CADCFC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10332720" cy="1905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Author: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20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Chenghui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788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Institution: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1788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California State University, East Bay (CSUEB)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83717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Project: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83717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Decision-Oriented Conversational Shopping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49554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ADCFC"/>
                </a:solidFill>
              </a:rPr>
              <a:t>Stack: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49554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React · FastAPI · Claude Opus 4.7 · Python · Playwright (ETL)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AB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