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CADCFC"/>
                </a:solidFill>
                <a:latin typeface="Calibri"/>
              </a:rPr>
              <a:t>APPLIED RESEARCH  ·  CAPSTONE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11556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5200">
                <a:solidFill>
                  <a:srgbClr val="FFFFFF"/>
                </a:solidFill>
                <a:latin typeface="Georgia"/>
              </a:rPr>
              <a:t>A Decision-Oriented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1556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5200">
                <a:solidFill>
                  <a:srgbClr val="FFFFFF"/>
                </a:solidFill>
                <a:latin typeface="Georgia"/>
              </a:rPr>
              <a:t>Conversational Shopping Assistant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94760"/>
            <a:ext cx="109728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800">
                <a:solidFill>
                  <a:srgbClr val="CADCFC"/>
                </a:solidFill>
                <a:latin typeface="Georgia"/>
              </a:rPr>
              <a:t>Claude does language.  Deterministic code does ranking.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300">
                <a:solidFill>
                  <a:srgbClr val="A9C1F4"/>
                </a:solidFill>
                <a:latin typeface="Calibri"/>
              </a:rPr>
              <a:t>Preference Elicitation  ·  Explainable Recommendations  ·  Lifecycle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Georgia"/>
              </a:rPr>
              <a:t>Chenghui 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200">
                <a:solidFill>
                  <a:srgbClr val="6B7AB8"/>
                </a:solidFill>
                <a:latin typeface="Calibri"/>
              </a:rPr>
              <a:t>California State University, East Bay  ·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A9C1F4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  <a:latin typeface="Calibri"/>
              </a:rPr>
              <a:t>01  ·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  <a:latin typeface="Georgia"/>
              </a:rPr>
              <a:t>Shopping Is a Decision Problem — Not a Search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6583680" cy="466344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309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400">
                <a:solidFill>
                  <a:srgbClr val="1E2761"/>
                </a:solidFill>
                <a:latin typeface="Georgia"/>
              </a:rPr>
              <a:t>Why the Existing Model Breaks Down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0008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  <a:latin typeface="Georgia"/>
              </a:rPr>
              <a:t>Cognitive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15768"/>
            <a:ext cx="5486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Users juggle every constraint and trade-off themselves.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10128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  <a:latin typeface="Georgia"/>
              </a:rPr>
              <a:t>Vague, Evolving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75888"/>
            <a:ext cx="5486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People rarely know exactly what they want when they start.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70248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  <a:latin typeface="Georgia"/>
              </a:rPr>
              <a:t>Preferences Get Overwritten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36008"/>
            <a:ext cx="5486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Add a new constraint — earlier choices quietly disappear.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30368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  <a:latin typeface="Georgia"/>
              </a:rPr>
              <a:t>Missing Critical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96128"/>
            <a:ext cx="5486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Delivery time, promos, availability hidden or absent.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1691640"/>
            <a:ext cx="4480560" cy="4663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874519"/>
            <a:ext cx="4206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700">
                <a:solidFill>
                  <a:srgbClr val="FFFFFF"/>
                </a:solidFill>
                <a:latin typeface="Georgia"/>
              </a:rPr>
              <a:t>The Decision Burden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331720"/>
            <a:ext cx="42062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700">
                <a:solidFill>
                  <a:srgbClr val="F96167"/>
                </a:solidFill>
                <a:latin typeface="Georgia"/>
              </a:rPr>
              <a:t>Falls on the user.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2971800"/>
            <a:ext cx="73152" cy="24688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3017520"/>
            <a:ext cx="4023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alibri"/>
              </a:rPr>
              <a:t>Decision fatigue compounds with each new option.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639312"/>
            <a:ext cx="4023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alibri"/>
              </a:rPr>
              <a:t>Users guess, settle, or abandon the purchase.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261104"/>
            <a:ext cx="4023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alibri"/>
              </a:rPr>
              <a:t>Post-purchase regret — trade-offs were never visible.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882896"/>
            <a:ext cx="4023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alibri"/>
              </a:rPr>
              <a:t>Trust erodes when recommendations have no rationale.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419088"/>
            <a:ext cx="11384280" cy="2743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419088"/>
            <a:ext cx="11384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  <a:latin typeface="Calibri"/>
              </a:rPr>
              <a:t>We built a system that addresses the decision — not just the search.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  <a:latin typeface="Calibri"/>
              </a:rPr>
              <a:t>02  ·  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Georgia"/>
              </a:rPr>
              <a:t>Existing Platforms Don't Support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2212848" cy="36576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  <a:latin typeface="Georgia"/>
              </a:rPr>
              <a:t>Google Shopping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554480"/>
            <a:ext cx="2212848" cy="36576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  <a:latin typeface="Georgia"/>
              </a:rPr>
              <a:t>Amazon Rufus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554480"/>
            <a:ext cx="2212848" cy="36576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627632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  <a:latin typeface="Georgia"/>
              </a:rPr>
              <a:t>ChatGPT Shopping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1554480"/>
            <a:ext cx="2212848" cy="36576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27632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  <a:latin typeface="Georgia"/>
              </a:rPr>
              <a:t>Perplexity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80" y="1554480"/>
            <a:ext cx="2212848" cy="3657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627632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  <a:latin typeface="Georgia"/>
              </a:rPr>
              <a:t>Our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103120"/>
            <a:ext cx="2898648" cy="50292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48840"/>
            <a:ext cx="28803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Georgia"/>
              </a:rPr>
              <a:t>Capability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103120"/>
            <a:ext cx="1636776" cy="50292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148840"/>
            <a:ext cx="161848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Georgia"/>
              </a:rPr>
              <a:t>Google
Shopping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1768" y="2103120"/>
            <a:ext cx="1636776" cy="50292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2148840"/>
            <a:ext cx="161848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Georgia"/>
              </a:rPr>
              <a:t>Amazon
Rufus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5976" y="2103120"/>
            <a:ext cx="1636776" cy="50292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5976" y="2148840"/>
            <a:ext cx="161848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Georgia"/>
              </a:rPr>
              <a:t>ChatGPT
Shopping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0184" y="2103120"/>
            <a:ext cx="1636776" cy="50292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148840"/>
            <a:ext cx="161848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Georgia"/>
              </a:rPr>
              <a:t>Perplexity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94392" y="2103120"/>
            <a:ext cx="178308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2" y="2148840"/>
            <a:ext cx="176479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Georgia"/>
              </a:rPr>
              <a:t>Our
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633472"/>
            <a:ext cx="2898648" cy="47548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2752344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  <a:latin typeface="Calibri"/>
              </a:rPr>
              <a:t>Preference Elicitation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63347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270662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01768" y="263347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1768" y="270662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300">
                <a:solidFill>
                  <a:srgbClr val="A9C1F4"/>
                </a:solidFill>
                <a:latin typeface="Calibri"/>
              </a:rPr>
              <a:t>Partial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5976" y="263347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5976" y="270662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300">
                <a:solidFill>
                  <a:srgbClr val="A9C1F4"/>
                </a:solidFill>
                <a:latin typeface="Calibri"/>
              </a:rPr>
              <a:t>Partial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0184" y="263347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70662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94392" y="2633472"/>
            <a:ext cx="1783080" cy="475488"/>
          </a:xfrm>
          <a:prstGeom prst="rect">
            <a:avLst/>
          </a:prstGeom>
          <a:solidFill>
            <a:srgbClr val="C9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94392" y="2706624"/>
            <a:ext cx="1783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136392"/>
            <a:ext cx="2898648" cy="47548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" y="3255264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  <a:latin typeface="Calibri"/>
              </a:rPr>
              <a:t>Decision Modeling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313639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320954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1768" y="313639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01768" y="320954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65976" y="313639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5976" y="320954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0184" y="313639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20954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3136392"/>
            <a:ext cx="1783080" cy="475488"/>
          </a:xfrm>
          <a:prstGeom prst="rect">
            <a:avLst/>
          </a:prstGeom>
          <a:solidFill>
            <a:srgbClr val="C9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94392" y="3209544"/>
            <a:ext cx="1783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639312"/>
            <a:ext cx="2898648" cy="47548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" y="3758184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  <a:latin typeface="Calibri"/>
              </a:rPr>
              <a:t>Explainable Recommendations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37560" y="363931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37560" y="371246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1768" y="363931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1768" y="371246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65976" y="363931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65976" y="371246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300">
                <a:solidFill>
                  <a:srgbClr val="A9C1F4"/>
                </a:solidFill>
                <a:latin typeface="Calibri"/>
              </a:rPr>
              <a:t>Partial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0184" y="363931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30184" y="371246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2EB86B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94392" y="3639312"/>
            <a:ext cx="1783080" cy="475488"/>
          </a:xfrm>
          <a:prstGeom prst="rect">
            <a:avLst/>
          </a:prstGeom>
          <a:solidFill>
            <a:srgbClr val="C9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94392" y="3712464"/>
            <a:ext cx="1783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4142232"/>
            <a:ext cx="2898648" cy="47548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1208" y="4261104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  <a:latin typeface="Calibri"/>
              </a:rPr>
              <a:t>Delivery / Promo Info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37560" y="414223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37560" y="421538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300">
                <a:solidFill>
                  <a:srgbClr val="A9C1F4"/>
                </a:solidFill>
                <a:latin typeface="Calibri"/>
              </a:rPr>
              <a:t>Partial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01768" y="414223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01768" y="421538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65976" y="414223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65976" y="421538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30184" y="414223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30184" y="421538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94392" y="4142232"/>
            <a:ext cx="1783080" cy="475488"/>
          </a:xfrm>
          <a:prstGeom prst="rect">
            <a:avLst/>
          </a:prstGeom>
          <a:solidFill>
            <a:srgbClr val="C9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94392" y="4215384"/>
            <a:ext cx="1783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645152"/>
            <a:ext cx="2898648" cy="47548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1208" y="4764024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  <a:latin typeface="Calibri"/>
              </a:rPr>
              <a:t>Preference Continuity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37560" y="464515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37560" y="471830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01768" y="464515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01768" y="471830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300">
                <a:solidFill>
                  <a:srgbClr val="A9C1F4"/>
                </a:solidFill>
                <a:latin typeface="Calibri"/>
              </a:rPr>
              <a:t>Partial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65976" y="464515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65976" y="471830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300">
                <a:solidFill>
                  <a:srgbClr val="A9C1F4"/>
                </a:solidFill>
                <a:latin typeface="Calibri"/>
              </a:rPr>
              <a:t>Partial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30184" y="4645152"/>
            <a:ext cx="1636776" cy="475488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30184" y="471830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94392" y="4645152"/>
            <a:ext cx="1783080" cy="475488"/>
          </a:xfrm>
          <a:prstGeom prst="rect">
            <a:avLst/>
          </a:prstGeom>
          <a:solidFill>
            <a:srgbClr val="C9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94392" y="4718304"/>
            <a:ext cx="1783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5148072"/>
            <a:ext cx="2898648" cy="47548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1208" y="5266944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  <a:latin typeface="Calibri"/>
              </a:rPr>
              <a:t>Lifecycle Support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37560" y="514807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37560" y="522122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01768" y="514807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01768" y="522122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65976" y="514807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65976" y="522122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330184" y="5148072"/>
            <a:ext cx="1636776" cy="475488"/>
          </a:xfrm>
          <a:prstGeom prst="rect">
            <a:avLst/>
          </a:prstGeom>
          <a:solidFill>
            <a:srgbClr val="22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30184" y="5221224"/>
            <a:ext cx="1636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E74C3C"/>
                </a:solidFill>
                <a:latin typeface="Calibri"/>
              </a:rP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994392" y="5148072"/>
            <a:ext cx="1783080" cy="475488"/>
          </a:xfrm>
          <a:prstGeom prst="rect">
            <a:avLst/>
          </a:prstGeom>
          <a:solidFill>
            <a:srgbClr val="C9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994392" y="5221224"/>
            <a:ext cx="1783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1480" y="6309360"/>
            <a:ext cx="11384280" cy="3840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1480" y="6355080"/>
            <a:ext cx="11384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Georgia"/>
              </a:rPr>
              <a:t>Our system targets every gap — in a single decision-oriented flow.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A9C1F4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  <a:latin typeface="Calibri"/>
              </a:rPr>
              <a:t>03  ·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3000">
                <a:solidFill>
                  <a:srgbClr val="1E2761"/>
                </a:solidFill>
                <a:latin typeface="Georgia"/>
              </a:rPr>
              <a:t>What the Assistant Actually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0332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70332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719072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1907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92224"/>
            <a:ext cx="2697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700">
                <a:solidFill>
                  <a:srgbClr val="FFFFFF"/>
                </a:solidFill>
                <a:latin typeface="Georgia"/>
              </a:rPr>
              <a:t>Understand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52344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Situational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10128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310128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10712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Smart guided Q&amp;A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68496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68496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Continuous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4A5890"/>
                </a:solidFill>
                <a:latin typeface="Calibri"/>
              </a:rPr>
              <a:t>e.g.  “I need something for cooking”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554480"/>
            <a:ext cx="370332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554480"/>
            <a:ext cx="370332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0" y="1719072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71907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1792224"/>
            <a:ext cx="2697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700">
                <a:solidFill>
                  <a:srgbClr val="FFFFFF"/>
                </a:solidFill>
                <a:latin typeface="Georgia"/>
              </a:rPr>
              <a:t>Built for You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651760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2651760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752344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Personal AI guide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310128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310128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410712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Preference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968496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3968496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069080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Multi-criteria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120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4A5890"/>
                </a:solidFill>
                <a:latin typeface="Calibri"/>
              </a:rPr>
              <a:t>remembers  ≤ $80  ·  3-day  ·  quiet home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1554480"/>
            <a:ext cx="370332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1554480"/>
            <a:ext cx="370332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12480" y="1719072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171907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792224"/>
            <a:ext cx="2697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700">
                <a:solidFill>
                  <a:srgbClr val="FFFFFF"/>
                </a:solidFill>
                <a:latin typeface="Georgia"/>
              </a:rPr>
              <a:t>Clear Results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651760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2651760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2752344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Structured — not text heavy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3310128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0" y="3310128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0" y="3410712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Full attributes visible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3968496"/>
            <a:ext cx="3154680" cy="502920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12480" y="3968496"/>
            <a:ext cx="73152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0" y="4069080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Calibri"/>
              </a:rPr>
              <a:t>Explainable trade-offs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2120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4A5890"/>
                </a:solidFill>
                <a:latin typeface="Calibri"/>
              </a:rPr>
              <a:t>shows the trade-off, not just the rank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035040"/>
            <a:ext cx="1133856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080760"/>
            <a:ext cx="113385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  <a:latin typeface="Georgia"/>
              </a:rPr>
              <a:t>+  Lifecycle support — value continues after the purchase.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  <a:latin typeface="Calibri"/>
              </a:rPr>
              <a:t>04  · 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  <a:latin typeface="Georgia"/>
              </a:rPr>
              <a:t>Five Scenes  ·  One Decision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691640"/>
            <a:ext cx="224028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691640"/>
            <a:ext cx="224028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801368"/>
            <a:ext cx="18745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Georgia"/>
              </a:rPr>
              <a:t>Scene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331720"/>
            <a:ext cx="1874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500">
                <a:solidFill>
                  <a:srgbClr val="1E2761"/>
                </a:solidFill>
                <a:latin typeface="Georgia"/>
              </a:rPr>
              <a:t>Frustration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834640"/>
            <a:ext cx="1874520" cy="2194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User vents pain;
assistant replies with empathy.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5303520"/>
            <a:ext cx="1691640" cy="292608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3492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3A4F9B"/>
                </a:solidFill>
                <a:latin typeface="Georgia"/>
              </a:rPr>
              <a:t>Layer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5184" y="1691640"/>
            <a:ext cx="224028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15184" y="1691640"/>
            <a:ext cx="224028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8064" y="1801368"/>
            <a:ext cx="18745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Georgia"/>
              </a:rPr>
              <a:t>Scene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331720"/>
            <a:ext cx="1874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500">
                <a:solidFill>
                  <a:srgbClr val="1E2761"/>
                </a:solidFill>
                <a:latin typeface="Georgia"/>
              </a:rPr>
              <a:t>Clarification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834640"/>
            <a:ext cx="1874520" cy="2194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Chip questions translate
vague needs into structured prefs.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9504" y="5303520"/>
            <a:ext cx="1691640" cy="292608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9504" y="53492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3A4F9B"/>
                </a:solidFill>
                <a:latin typeface="Georgia"/>
              </a:rPr>
              <a:t>Layer 1→2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6" y="1691640"/>
            <a:ext cx="224028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74336" y="1691640"/>
            <a:ext cx="224028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216" y="1801368"/>
            <a:ext cx="18745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Georgia"/>
              </a:rPr>
              <a:t>Scene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2331720"/>
            <a:ext cx="1874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500">
                <a:solidFill>
                  <a:srgbClr val="1E2761"/>
                </a:solidFill>
                <a:latin typeface="Georgia"/>
              </a:rPr>
              <a:t>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2834640"/>
            <a:ext cx="1874520" cy="2194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12 ranked tiles —
attributes visible inline.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8656" y="5303520"/>
            <a:ext cx="1691640" cy="292608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48656" y="53492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3A4F9B"/>
                </a:solidFill>
                <a:latin typeface="Georgia"/>
              </a:rPr>
              <a:t>Layer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1691640"/>
            <a:ext cx="224028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3488" y="1691640"/>
            <a:ext cx="224028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1801368"/>
            <a:ext cx="18745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Georgia"/>
              </a:rPr>
              <a:t>Scene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331720"/>
            <a:ext cx="1874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500">
                <a:solidFill>
                  <a:srgbClr val="1E2761"/>
                </a:solidFill>
                <a:latin typeface="Georgia"/>
              </a:rPr>
              <a:t>Why this 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2834640"/>
            <a:ext cx="1874520" cy="2194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Reasons + trade-off card +
transparency banner.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07808" y="5303520"/>
            <a:ext cx="1691640" cy="292608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53492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3A4F9B"/>
                </a:solidFill>
                <a:latin typeface="Georgia"/>
              </a:rPr>
              <a:t>Layer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1691640"/>
            <a:ext cx="224028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1691640"/>
            <a:ext cx="224028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1801368"/>
            <a:ext cx="18745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Georgia"/>
              </a:rPr>
              <a:t>Scene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331720"/>
            <a:ext cx="1874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500">
                <a:solidFill>
                  <a:srgbClr val="1E2761"/>
                </a:solidFill>
                <a:latin typeface="Georgia"/>
              </a:rPr>
              <a:t>Lifecycle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834640"/>
            <a:ext cx="1874520" cy="2194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Daily use, schedule, menu,
post-purchase value.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5303520"/>
            <a:ext cx="1691640" cy="292608"/>
          </a:xfrm>
          <a:prstGeom prst="rect">
            <a:avLst/>
          </a:prstGeom>
          <a:solidFill>
            <a:srgbClr val="E7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53492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3A4F9B"/>
                </a:solidFill>
                <a:latin typeface="Georgia"/>
              </a:rPr>
              <a:t>Layer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200">
                <a:solidFill>
                  <a:srgbClr val="4A5890"/>
                </a:solidFill>
                <a:latin typeface="Georgia"/>
              </a:rPr>
              <a:t>Each scene corresponds to exactly one architectural layer — UI and architecture are legible to each other.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  <a:latin typeface="Calibri"/>
              </a:rPr>
              <a:t>05  ·  THE CORE ARCHITECTURAL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3800">
                <a:solidFill>
                  <a:srgbClr val="FFFFFF"/>
                </a:solidFill>
                <a:latin typeface="Georgia"/>
              </a:rPr>
              <a:t>The Trust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600">
                <a:solidFill>
                  <a:srgbClr val="F96167"/>
                </a:solidFill>
                <a:latin typeface="Georgia"/>
              </a:rPr>
              <a:t>AI handles language.  Deterministic code handles the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109960" cy="18288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Georgia"/>
              </a:rPr>
              <a:t>Claude  (Opus 4.6)  —  Natural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100">
                <a:solidFill>
                  <a:srgbClr val="CADCFC"/>
                </a:solidFill>
                <a:latin typeface="Calibri"/>
              </a:rPr>
              <a:t>Probabilistic  ·  Translator between messy intent and structured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2606040" cy="713232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Georgia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54096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Calibri"/>
              </a:rPr>
              <a:t>Parse preferences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880360"/>
            <a:ext cx="2606040" cy="713232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971800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Georgia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054096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Calibri"/>
              </a:rPr>
              <a:t>Clarifying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880360"/>
            <a:ext cx="2606040" cy="713232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971800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Georgia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54096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Calibri"/>
              </a:rPr>
              <a:t>Explain trade-offs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880360"/>
            <a:ext cx="2606040" cy="713232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971800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Georgia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54096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Calibri"/>
              </a:rPr>
              <a:t>Lifecycle suggestions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109960" cy="47548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59352"/>
            <a:ext cx="11109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Georgia"/>
              </a:rPr>
              <a:t>▼   T R U S T    B O U N D A R Y   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07992"/>
            <a:ext cx="11109960" cy="1828800"/>
          </a:xfrm>
          <a:prstGeom prst="rect">
            <a:avLst/>
          </a:prstGeom>
          <a:solidFill>
            <a:srgbClr val="121A47"/>
          </a:solidFill>
          <a:ln w="15875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4515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Georgia"/>
              </a:rPr>
              <a:t>Rule-Based Recommendation Engine  —  The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1091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100">
                <a:solidFill>
                  <a:srgbClr val="F96167"/>
                </a:solidFill>
                <a:latin typeface="Calibri"/>
              </a:rPr>
              <a:t>Deterministic  ·  Auditable  ·  Every weight visible  ·  Reproducible across model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8112"/>
            <a:ext cx="2606040" cy="713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59552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Georgia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641848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Calibri"/>
              </a:rPr>
              <a:t>Hard constraint filter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5468112"/>
            <a:ext cx="2606040" cy="713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5559552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Georgia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40" y="5641848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Calibri"/>
              </a:rPr>
              <a:t>Feasible 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468112"/>
            <a:ext cx="2606040" cy="713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559552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Georgia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641848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Calibri"/>
              </a:rPr>
              <a:t>Two-tier weighted scoring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5468112"/>
            <a:ext cx="2606040" cy="713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5559552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Georgia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5641848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  <a:latin typeface="Calibri"/>
              </a:rPr>
              <a:t>Ranked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A9C1F4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  <a:latin typeface="Calibri"/>
              </a:rPr>
              <a:t>06  ·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  <a:latin typeface="Georgia"/>
              </a:rPr>
              <a:t>Conceptual Layers &amp; Runtime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Conceptual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212848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45720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166420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Georgia"/>
              </a:rPr>
              <a:t>Preference
Elicitation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103120"/>
            <a:ext cx="11887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783080"/>
            <a:ext cx="2212848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783080"/>
            <a:ext cx="45720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0574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65960"/>
            <a:ext cx="166420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Georgia"/>
              </a:rPr>
              <a:t>Decision
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103120"/>
            <a:ext cx="11887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783080"/>
            <a:ext cx="2212848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783080"/>
            <a:ext cx="45720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0574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965960"/>
            <a:ext cx="166420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Georgia"/>
              </a:rPr>
              <a:t>Recommendation
&amp;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103120"/>
            <a:ext cx="11887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783080"/>
            <a:ext cx="2212848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783080"/>
            <a:ext cx="45720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0574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965960"/>
            <a:ext cx="166420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Georgia"/>
              </a:rPr>
              <a:t>Explainability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103120"/>
            <a:ext cx="11887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1783080"/>
            <a:ext cx="2212848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20" y="1783080"/>
            <a:ext cx="45720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20574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1965960"/>
            <a:ext cx="166420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Georgia"/>
              </a:rPr>
              <a:t>Lifecycle
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Runtime Components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337560"/>
            <a:ext cx="356616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447288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Georgia"/>
              </a:rPr>
              <a:t>React 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79476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  <a:latin typeface="Calibri"/>
              </a:rPr>
              <a:t>4 stages · TypeScript · axios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087368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950">
                <a:solidFill>
                  <a:srgbClr val="A9C1F4"/>
                </a:solidFill>
                <a:latin typeface="Calibri"/>
              </a:rPr>
              <a:t>Onboarding  ·  Elicitation  ·  Recommendations  ·  Refinement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337560"/>
            <a:ext cx="3566160" cy="10972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47288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Georgia"/>
              </a:rPr>
              <a:t>FastAPI 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379476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FFFFFF"/>
                </a:solidFill>
                <a:latin typeface="Calibri"/>
              </a:rPr>
              <a:t>/start · /answer · /recommend · /refine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087368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950">
                <a:solidFill>
                  <a:srgbClr val="FFFFFF"/>
                </a:solidFill>
                <a:latin typeface="Calibri"/>
              </a:rPr>
              <a:t>Orchestrates Claude + Rule-Based Engine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3337560"/>
            <a:ext cx="356616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3447288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Georgia"/>
              </a:rPr>
              <a:t>Claude  (Opus 4.6)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79476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  <a:latin typeface="Calibri"/>
              </a:rPr>
              <a:t>4 call sites · language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087368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950">
                <a:solidFill>
                  <a:srgbClr val="A9C1F4"/>
                </a:solidFill>
                <a:latin typeface="Calibri"/>
              </a:rPr>
              <a:t>Parse · Clarify · Explain · Lifecycle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3873500"/>
            <a:ext cx="228600" cy="25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63840" y="3873500"/>
            <a:ext cx="228600" cy="25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800600"/>
            <a:ext cx="356616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910328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1E2761"/>
                </a:solidFill>
                <a:latin typeface="Georgia"/>
              </a:rPr>
              <a:t>Recommendation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25780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1A1A2E"/>
                </a:solidFill>
                <a:latin typeface="Calibri"/>
              </a:rPr>
              <a:t>Hard constraints + two-tier scoring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550408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C93F45"/>
                </a:solidFill>
                <a:latin typeface="Calibri"/>
              </a:rPr>
              <a:t>Deterministic — no AI in ranking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00600"/>
            <a:ext cx="356616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910328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1E2761"/>
                </a:solidFill>
                <a:latin typeface="Georgia"/>
              </a:rPr>
              <a:t>Product 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0" y="525780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1A1A2E"/>
                </a:solidFill>
                <a:latin typeface="Calibri"/>
              </a:rPr>
              <a:t>products_clean.json  ·  100 products  ·  3 categories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5550408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000">
                <a:solidFill>
                  <a:srgbClr val="4A5890"/>
                </a:solidFill>
                <a:latin typeface="Calibri"/>
              </a:rPr>
              <a:t>Smart Display · Water Bottle · Kitchen Organizer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4800600"/>
            <a:ext cx="356616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4910328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300">
                <a:solidFill>
                  <a:srgbClr val="1E2761"/>
                </a:solidFill>
                <a:latin typeface="Georgia"/>
              </a:rPr>
              <a:t>ETL Pipeline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525780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1A1A2E"/>
                </a:solidFill>
                <a:latin typeface="Calibri"/>
              </a:rPr>
              <a:t>Playwright  ·  Amazon + Target fallback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5550408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000">
                <a:solidFill>
                  <a:srgbClr val="4A5890"/>
                </a:solidFill>
                <a:latin typeface="Calibri"/>
              </a:rPr>
              <a:t>Normalize · Dedup · Offline batch feed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68060" y="4434840"/>
            <a:ext cx="25400" cy="3657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69080" y="5427980"/>
            <a:ext cx="228600" cy="25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63840" y="5427980"/>
            <a:ext cx="228600" cy="25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  <a:latin typeface="Calibri"/>
              </a:rPr>
              <a:t>07  ·  RECOMMENDATION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Georgia"/>
              </a:rPr>
              <a:t>Deterministic Two-Tier Weighted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94960" cy="9601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640080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640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44805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Hard Constraint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57400"/>
            <a:ext cx="44805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  <a:latin typeface="Calibri"/>
              </a:rPr>
              <a:t>Budget &amp; delivery deadline — non-negotiable.
Eliminated before scoring.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5394960" cy="9601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640080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640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34640"/>
            <a:ext cx="44805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Build Feasible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54680"/>
            <a:ext cx="44805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  <a:latin typeface="Calibri"/>
              </a:rPr>
              <a:t>Only products satisfying all hard constraints proceed.
Typically ~100 → 10–20 candidates.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394960" cy="9601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640080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640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31920"/>
            <a:ext cx="44805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Two-Tier Weighted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51960"/>
            <a:ext cx="44805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  <a:latin typeface="Calibri"/>
              </a:rPr>
              <a:t>General: rating · price · delivery (dynamic weights)
Feature: category-specific attributes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5394960" cy="9601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640080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66360"/>
            <a:ext cx="640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4805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Ranked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349240"/>
            <a:ext cx="44805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  <a:latin typeface="Calibri"/>
              </a:rPr>
              <a:t>Combined = α · General + (1 − α) · Feature,   α = 0.6
Top N returned with all components preserved.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645920"/>
            <a:ext cx="576072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709928"/>
            <a:ext cx="5532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Georgia"/>
              </a:rPr>
              <a:t>Worked Example — smart display, flexible budget, no rush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194560"/>
            <a:ext cx="5760720" cy="1188720"/>
          </a:xfrm>
          <a:prstGeom prst="rect">
            <a:avLst/>
          </a:prstGeom>
          <a:solidFill>
            <a:srgbClr val="121A47"/>
          </a:solidFill>
          <a:ln w="15875">
            <a:solidFill>
              <a:srgbClr val="3A4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267712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F96167"/>
                </a:solidFill>
                <a:latin typeface="Calibri"/>
              </a:rPr>
              <a:t>GENERAL  (dynamic, from user priorities)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496312"/>
            <a:ext cx="1828800" cy="32004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53288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Rating  50%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496312"/>
            <a:ext cx="1828800" cy="32004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253288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Price  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2496312"/>
            <a:ext cx="1828800" cy="32004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253288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Delivery 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871216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F96167"/>
                </a:solidFill>
                <a:latin typeface="Calibri"/>
              </a:rPr>
              <a:t>FEATURE  (category-specific — smart displays)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099816"/>
            <a:ext cx="1353312" cy="2743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127248"/>
            <a:ext cx="13533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950">
                <a:solidFill>
                  <a:srgbClr val="FFFFFF"/>
                </a:solidFill>
                <a:latin typeface="Calibri"/>
              </a:rPr>
              <a:t>Voice  40%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0376" y="3099816"/>
            <a:ext cx="1353312" cy="2743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0376" y="3127248"/>
            <a:ext cx="13533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950">
                <a:solidFill>
                  <a:srgbClr val="FFFFFF"/>
                </a:solidFill>
                <a:latin typeface="Calibri"/>
              </a:rPr>
              <a:t>Screen  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88552" y="3099816"/>
            <a:ext cx="1353312" cy="2743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8552" y="3127248"/>
            <a:ext cx="13533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950">
                <a:solidFill>
                  <a:srgbClr val="FFFFFF"/>
                </a:solidFill>
                <a:latin typeface="Calibri"/>
              </a:rPr>
              <a:t>Smart Home  20%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96728" y="3099816"/>
            <a:ext cx="1353312" cy="2743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96728" y="3127248"/>
            <a:ext cx="13533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950">
                <a:solidFill>
                  <a:srgbClr val="FFFFFF"/>
                </a:solidFill>
                <a:latin typeface="Calibri"/>
              </a:rPr>
              <a:t>Brand  10%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520440"/>
            <a:ext cx="5760720" cy="71323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3520440"/>
            <a:ext cx="1097280" cy="713232"/>
          </a:xfrm>
          <a:prstGeom prst="rect">
            <a:avLst/>
          </a:prstGeom>
          <a:solidFill>
            <a:srgbClr val="2E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3749040"/>
            <a:ext cx="1097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3575304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Georgia"/>
              </a:rPr>
              <a:t>Amazon Echo Show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386791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950">
                <a:solidFill>
                  <a:srgbClr val="A9C1F4"/>
                </a:solidFill>
                <a:latin typeface="Calibri"/>
              </a:rPr>
              <a:t>$79 · 4.7★ · 2-day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3575304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50">
                <a:solidFill>
                  <a:srgbClr val="CADCFC"/>
                </a:solidFill>
                <a:latin typeface="Calibri"/>
              </a:rPr>
              <a:t>Gen 0.82 · Feat 0.88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3867912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1" i="0" sz="1000">
                <a:solidFill>
                  <a:srgbClr val="F96167"/>
                </a:solidFill>
                <a:latin typeface="Calibri"/>
              </a:rPr>
              <a:t>Combined 0.84   →  #1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297680"/>
            <a:ext cx="5760720" cy="713232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4297680"/>
            <a:ext cx="1097280" cy="713232"/>
          </a:xfrm>
          <a:prstGeom prst="rect">
            <a:avLst/>
          </a:prstGeom>
          <a:solidFill>
            <a:srgbClr val="2E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526280"/>
            <a:ext cx="1097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4352544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Georgia"/>
              </a:rPr>
              <a:t>Google Nest Hub (2nd Gen)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464515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950">
                <a:solidFill>
                  <a:srgbClr val="A9C1F4"/>
                </a:solidFill>
                <a:latin typeface="Calibri"/>
              </a:rPr>
              <a:t>$65 · 4.5★ · 3-day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4352544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50">
                <a:solidFill>
                  <a:srgbClr val="CADCFC"/>
                </a:solidFill>
                <a:latin typeface="Calibri"/>
              </a:rPr>
              <a:t>Gen 0.80 · Feat 0.79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4645152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1" i="0" sz="1000">
                <a:solidFill>
                  <a:srgbClr val="F96167"/>
                </a:solidFill>
                <a:latin typeface="Calibri"/>
              </a:rPr>
              <a:t>Combined 0.80   →  #2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5074920"/>
            <a:ext cx="5760720" cy="71323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35040" y="5074920"/>
            <a:ext cx="109728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5303520"/>
            <a:ext cx="1097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✗  ELIMINATED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5129784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Georgia"/>
              </a:rPr>
              <a:t>Amazon Echo Show 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542239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950">
                <a:solidFill>
                  <a:srgbClr val="A9C1F4"/>
                </a:solidFill>
                <a:latin typeface="Calibri"/>
              </a:rPr>
              <a:t>$249 · 4.8★ · 2-day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5129784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50">
                <a:solidFill>
                  <a:srgbClr val="CADCFC"/>
                </a:solidFill>
                <a:latin typeface="Calibri"/>
              </a:rPr>
              <a:t>over $80 budget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0" y="5422392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1" i="0" sz="1000">
                <a:solidFill>
                  <a:srgbClr val="F96167"/>
                </a:solidFill>
                <a:latin typeface="Calibri"/>
              </a:rPr>
              <a:t>filtered before scoring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6309360"/>
            <a:ext cx="11338560" cy="3840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355080"/>
            <a:ext cx="113385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Georgia"/>
              </a:rPr>
              <a:t>When the system decides what to show the user, AI steps aside.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A9C1F4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  <a:latin typeface="Calibri"/>
              </a:rPr>
              <a:t>08  · 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  <a:latin typeface="Georgia"/>
              </a:rPr>
              <a:t>Playwright ETL  ·  Normalization  · 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21284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212848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27632"/>
            <a:ext cx="17099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Scrape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alibri"/>
              </a:rPr>
              <a:t>Amazon  → 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000">
                <a:solidFill>
                  <a:srgbClr val="4A5890"/>
                </a:solidFill>
                <a:latin typeface="Calibri"/>
              </a:rPr>
              <a:t>Primary +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057400"/>
            <a:ext cx="137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1488" y="1554480"/>
            <a:ext cx="221284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61488" y="1554480"/>
            <a:ext cx="2212848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52928" y="160020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16002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8" y="1627632"/>
            <a:ext cx="17099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Normalize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210312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alibri"/>
              </a:rPr>
              <a:t>Prices · ratings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242316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000">
                <a:solidFill>
                  <a:srgbClr val="4A5890"/>
                </a:solidFill>
                <a:latin typeface="Calibri"/>
              </a:rPr>
              <a:t>Delivery  → 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6" y="2057400"/>
            <a:ext cx="137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776" y="1554480"/>
            <a:ext cx="221284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65776" y="1554480"/>
            <a:ext cx="2212848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57216" y="160020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7216" y="16002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2976" y="1627632"/>
            <a:ext cx="17099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Dedup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210312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alibri"/>
              </a:rPr>
              <a:t>URL exact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242316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000">
                <a:solidFill>
                  <a:srgbClr val="4A5890"/>
                </a:solidFill>
                <a:latin typeface="Calibri"/>
              </a:rPr>
              <a:t>+ fuzzy title prefix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057400"/>
            <a:ext cx="137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0064" y="1554480"/>
            <a:ext cx="221284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70064" y="1554480"/>
            <a:ext cx="2212848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61504" y="160020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61504" y="16002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7264" y="1627632"/>
            <a:ext cx="17099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224" y="210312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alibri"/>
              </a:rPr>
              <a:t>10-field 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224" y="242316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000">
                <a:solidFill>
                  <a:srgbClr val="4A5890"/>
                </a:solidFill>
                <a:latin typeface="Calibri"/>
              </a:rPr>
              <a:t>TypedDict contract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37192" y="2057400"/>
            <a:ext cx="137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74352" y="1554480"/>
            <a:ext cx="221284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74352" y="1554480"/>
            <a:ext cx="2212848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65792" y="160020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65792" y="16002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1627632"/>
            <a:ext cx="17099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Emit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1512" y="210312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alibri"/>
              </a:rPr>
              <a:t>products_clean.json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11512" y="2423160"/>
            <a:ext cx="19385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000">
                <a:solidFill>
                  <a:srgbClr val="4A5890"/>
                </a:solidFill>
                <a:latin typeface="Calibri"/>
              </a:rPr>
              <a:t>100 products · 3 cats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200400"/>
            <a:ext cx="56692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200400"/>
            <a:ext cx="566928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29184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  <a:latin typeface="Georgia"/>
              </a:rPr>
              <a:t>Normalization Examples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840480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onsolas"/>
              </a:rPr>
              <a:t>"Arrives Mar 14"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3840480"/>
            <a:ext cx="365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384048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onsolas"/>
              </a:rPr>
              <a:t>5  (days from today)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4279392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onsolas"/>
              </a:rPr>
              <a:t>"Get it in 2–3 days"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4279392"/>
            <a:ext cx="365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4279392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onsolas"/>
              </a:rPr>
              <a:t>3  (upper bound)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718304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onsolas"/>
              </a:rPr>
              <a:t>"Ships within a week"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718304"/>
            <a:ext cx="365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718304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onsolas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157216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onsolas"/>
              </a:rPr>
              <a:t>"1K reviews"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5157216"/>
            <a:ext cx="365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66160" y="5157216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onsolas"/>
              </a:rPr>
              <a:t>1000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596128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onsolas"/>
              </a:rPr>
              <a:t>"$79.99"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596128"/>
            <a:ext cx="365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0" y="5596128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Consolas"/>
              </a:rPr>
              <a:t>79.99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3200400"/>
            <a:ext cx="5532120" cy="3017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3337560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Georgia"/>
              </a:rPr>
              <a:t>ScrapedProduct  —  10-field TypedDict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3657600"/>
            <a:ext cx="5303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000">
                <a:solidFill>
                  <a:srgbClr val="F96167"/>
                </a:solidFill>
                <a:latin typeface="Calibri"/>
              </a:rPr>
              <a:t>flat schema · boring · easy to reason about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06908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title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43484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url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80060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image_url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16636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price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553212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rating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0" y="4069080"/>
            <a:ext cx="2651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review_count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0" y="4434840"/>
            <a:ext cx="2651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delivery_days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0" y="4800600"/>
            <a:ext cx="2651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source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0" y="5166360"/>
            <a:ext cx="2651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category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0" y="5532120"/>
            <a:ext cx="2651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CADCFC"/>
                </a:solidFill>
                <a:latin typeface="Consolas"/>
              </a:rPr>
              <a:t>·  fetched_at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355080"/>
            <a:ext cx="11338560" cy="3657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  <a:latin typeface="Georgia"/>
              </a:rPr>
              <a:t>100 products  ·  3 categories  ·  2 active sources  ·  two-phase dedup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  <a:latin typeface="Calibri"/>
              </a:rPr>
              <a:t>09  ·  RESULTS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600">
                <a:solidFill>
                  <a:srgbClr val="FFFFFF"/>
                </a:solidFill>
                <a:latin typeface="Georgia"/>
              </a:rPr>
              <a:t>Capability Validation &amp; Scenario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770632" cy="17373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770632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5600">
                <a:solidFill>
                  <a:srgbClr val="FFFFFF"/>
                </a:solidFill>
                <a:latin typeface="Georgia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77063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100">
                <a:solidFill>
                  <a:srgbClr val="CADCFC"/>
                </a:solidFill>
                <a:latin typeface="Calibri"/>
              </a:rPr>
              <a:t>capability gaps
addressed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00200"/>
            <a:ext cx="2770632" cy="173736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737360"/>
            <a:ext cx="2770632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560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697480"/>
            <a:ext cx="277063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100">
                <a:solidFill>
                  <a:srgbClr val="CADCFC"/>
                </a:solidFill>
                <a:latin typeface="Calibri"/>
              </a:rPr>
              <a:t>Claude call sites
(none in ranking)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2770632" cy="17373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2770632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5600">
                <a:solidFill>
                  <a:srgbClr val="FFFFFF"/>
                </a:solidFill>
                <a:latin typeface="Georg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77063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100">
                <a:solidFill>
                  <a:srgbClr val="CADCFC"/>
                </a:solidFill>
                <a:latin typeface="Calibri"/>
              </a:rPr>
              <a:t>LLM inference in
the ranking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600200"/>
            <a:ext cx="2770632" cy="173736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37360"/>
            <a:ext cx="2770632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5600">
                <a:solidFill>
                  <a:srgbClr val="FFFFFF"/>
                </a:solidFill>
                <a:latin typeface="Georgia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97480"/>
            <a:ext cx="277063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1100">
                <a:solidFill>
                  <a:srgbClr val="CADCFC"/>
                </a:solidFill>
                <a:latin typeface="Calibri"/>
              </a:rPr>
              <a:t>products
across 3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5669280" cy="269748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611880"/>
            <a:ext cx="5394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  <a:latin typeface="Georgia"/>
              </a:rPr>
              <a:t>Demo  —  Kitchen Assistant 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F96167"/>
                </a:solidFill>
                <a:latin typeface="Georgia"/>
              </a:rPr>
              <a:t>① 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069080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  <a:latin typeface="Calibri"/>
              </a:rPr>
              <a:t>'I want something for cooking' → smart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81144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F96167"/>
                </a:solidFill>
                <a:latin typeface="Georgia"/>
              </a:rPr>
              <a:t>②  Elicitation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581144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  <a:latin typeface="Calibri"/>
              </a:rPr>
              <a:t>5 guided Qs: budget, screen, delivery, household, 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9320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F96167"/>
                </a:solidFill>
                <a:latin typeface="Georgia"/>
              </a:rPr>
              <a:t>③ 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093208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  <a:latin typeface="Calibri"/>
              </a:rPr>
              <a:t>Ranked list + trade-off explanation per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05272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F96167"/>
                </a:solidFill>
                <a:latin typeface="Georgia"/>
              </a:rPr>
              <a:t>④  Refinement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60527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  <a:latin typeface="Calibri"/>
              </a:rPr>
              <a:t>Deprioritize screen → re-rank + lifecycle ideas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520440"/>
            <a:ext cx="5532120" cy="2697480"/>
          </a:xfrm>
          <a:prstGeom prst="rect">
            <a:avLst/>
          </a:prstGeom>
          <a:solidFill>
            <a:srgbClr val="121A47"/>
          </a:solidFill>
          <a:ln w="15875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11880"/>
            <a:ext cx="5257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  <a:latin typeface="Georgia"/>
              </a:rPr>
              <a:t>Validation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2EB86B"/>
                </a:solidFill>
                <a:latin typeface="Calibri"/>
              </a:rPr>
              <a:t>✓  Information completeness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343400"/>
            <a:ext cx="4983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  <a:latin typeface="Calibri"/>
              </a:rPr>
              <a:t>price, rating, delivery, promos — all in one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81144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2EB86B"/>
                </a:solidFill>
                <a:latin typeface="Calibri"/>
              </a:rPr>
              <a:t>✓  Interaction 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55464"/>
            <a:ext cx="4983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  <a:latin typeface="Calibri"/>
              </a:rPr>
              <a:t>4-stage flow · zero external page 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093208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2EB86B"/>
                </a:solidFill>
                <a:latin typeface="Calibri"/>
              </a:rPr>
              <a:t>✓  Decision transparency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367528"/>
            <a:ext cx="4983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  <a:latin typeface="Calibri"/>
              </a:rPr>
              <a:t>every rec carries an explanation tied to priorities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05272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2EB86B"/>
                </a:solidFill>
                <a:latin typeface="Calibri"/>
              </a:rPr>
              <a:t>✓  Reproducibility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879592"/>
            <a:ext cx="4983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  <a:latin typeface="Calibri"/>
              </a:rPr>
              <a:t>identical inputs → identical ranking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355080"/>
            <a:ext cx="11338560" cy="365760"/>
          </a:xfrm>
          <a:prstGeom prst="rect">
            <a:avLst/>
          </a:prstGeom>
          <a:solidFill>
            <a:srgbClr val="12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000">
                <a:solidFill>
                  <a:srgbClr val="A9C1F4"/>
                </a:solidFill>
                <a:latin typeface="Calibri"/>
              </a:rPr>
              <a:t>Heuristic self-assessment against the six capability gaps  ·  formal user study is future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A9C1F4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  <a:latin typeface="Calibri"/>
              </a:rPr>
              <a:t>10  ·  LIVE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600">
                <a:solidFill>
                  <a:srgbClr val="1E2761"/>
                </a:solidFill>
                <a:latin typeface="Georgia"/>
              </a:rPr>
              <a:t>Three End-to-End Scenarios — One Per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" y="1691640"/>
            <a:ext cx="3703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" y="1691640"/>
            <a:ext cx="370332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82880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Georgia"/>
              </a:rPr>
              <a:t>Kitchen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6888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100">
                <a:solidFill>
                  <a:srgbClr val="4A5890"/>
                </a:solidFill>
                <a:latin typeface="Calibri"/>
              </a:rPr>
              <a:t>Sarah · 38 · busy 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83464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Opening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6324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100">
                <a:solidFill>
                  <a:srgbClr val="1A1A2E"/>
                </a:solidFill>
                <a:latin typeface="Calibri"/>
              </a:rPr>
              <a:t>"I cook every day but my phone screen is too small to follow recipes."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88620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Chip picks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11480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Cooking · Under $150 · No rush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457200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Top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80060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Georgia"/>
              </a:rPr>
              <a:t>Echo Show 8 / Echo Show 5 with Smart Bulb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534924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Lifecycle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577840"/>
            <a:ext cx="32461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Hands-free recipes · meal-plan dashboard · family hub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1691640"/>
            <a:ext cx="3703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2816" y="1691640"/>
            <a:ext cx="3703320" cy="59436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182880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Georgia"/>
              </a:rPr>
              <a:t>Gym Hydration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246888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100">
                <a:solidFill>
                  <a:srgbClr val="4A5890"/>
                </a:solidFill>
                <a:latin typeface="Calibri"/>
              </a:rPr>
              <a:t>Mike · 27 · runner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83464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Opening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06324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100">
                <a:solidFill>
                  <a:srgbClr val="1A1A2E"/>
                </a:solidFill>
                <a:latin typeface="Calibri"/>
              </a:rPr>
              <a:t>"My bottle is heavy, leaks, and I can't track my water."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88620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Chip picks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411480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Gym · Insulated · Lightweight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457200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Top 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416" y="480060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Georgia"/>
              </a:rPr>
              <a:t>Owala FreeSip 19oz Insulated ($14.99)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34924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Lifecycle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5577840"/>
            <a:ext cx="32461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Hydration tracker · workout reminders · flavor ideas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9016" y="1691640"/>
            <a:ext cx="3703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9016" y="1691640"/>
            <a:ext cx="3703320" cy="5943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182880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Georgia"/>
              </a:rPr>
              <a:t>Cabinet Reset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246888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100">
                <a:solidFill>
                  <a:srgbClr val="4A5890"/>
                </a:solidFill>
                <a:latin typeface="Calibri"/>
              </a:rPr>
              <a:t>Priya · 31 · small apartment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283464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Opening prompt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3063240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1" sz="1100">
                <a:solidFill>
                  <a:srgbClr val="1A1A2E"/>
                </a:solidFill>
                <a:latin typeface="Calibri"/>
              </a:rPr>
              <a:t>"My drawers are chaos. Every morning I waste time hunting."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388620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Chip picks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411480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Cabinets · Not enough space · Stackable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457200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Top 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80060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100">
                <a:solidFill>
                  <a:srgbClr val="1E2761"/>
                </a:solidFill>
                <a:latin typeface="Georgia"/>
              </a:rPr>
              <a:t>Brightroom Stackable Pantry Bin Set ($9–16)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534924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000">
                <a:solidFill>
                  <a:srgbClr val="F96167"/>
                </a:solidFill>
                <a:latin typeface="Georgia"/>
              </a:rPr>
              <a:t>Lifecycle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5577840"/>
            <a:ext cx="32461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  <a:latin typeface="Calibri"/>
              </a:rPr>
              <a:t>Weekly tidy nudges · smart restock · calm counters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1" sz="1200">
                <a:solidFill>
                  <a:srgbClr val="4A5890"/>
                </a:solidFill>
                <a:latin typeface="Georgia"/>
              </a:rPr>
              <a:t>Same five-layer architecture · same UI flow · three product categories — generalisability demonstrated.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  <a:latin typeface="Calibri"/>
              </a:rPr>
              <a:t>11  ·  HONEST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2600">
                <a:solidFill>
                  <a:srgbClr val="1E2761"/>
                </a:solidFill>
                <a:latin typeface="Georgia"/>
              </a:rPr>
              <a:t>What This Proves  ·  What It Doesn't  ·  What's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5760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383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  <a:latin typeface="Georgia"/>
              </a:rPr>
              <a:t>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365760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36576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09928"/>
            <a:ext cx="3383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  <a:latin typeface="Georgia"/>
              </a:rPr>
              <a:t>Conclusions &amp;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00200"/>
            <a:ext cx="365760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00200"/>
            <a:ext cx="3657600" cy="5029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09928"/>
            <a:ext cx="3383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  <a:latin typeface="Georgia"/>
              </a:rPr>
              <a:t>Future Work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860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26771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Small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56032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100 products · 3 categories only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04495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No user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33756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heuristic evaluation only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82219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Static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11480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prices &amp; delivery change dynamically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61772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61772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9943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Rule-based weights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8920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inferred, not learned</a:t>
            </a:r>
          </a:p>
        </p:txBody>
      </p:sp>
      <p:sp>
        <p:nvSpPr>
          <p:cNvPr id="32" name="Oval 31"/>
          <p:cNvSpPr/>
          <p:nvPr/>
        </p:nvSpPr>
        <p:spPr>
          <a:xfrm>
            <a:off x="4526280" y="228600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22860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26771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Decision support feasible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6032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end-to-end with Claude Opus 4.6</a:t>
            </a:r>
          </a:p>
        </p:txBody>
      </p:sp>
      <p:sp>
        <p:nvSpPr>
          <p:cNvPr id="36" name="Oval 35"/>
          <p:cNvSpPr/>
          <p:nvPr/>
        </p:nvSpPr>
        <p:spPr>
          <a:xfrm>
            <a:off x="4526280" y="306324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06324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04495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Structured elicitation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33756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designed to address cognitive load</a:t>
            </a:r>
          </a:p>
        </p:txBody>
      </p:sp>
      <p:sp>
        <p:nvSpPr>
          <p:cNvPr id="40" name="Oval 39"/>
          <p:cNvSpPr/>
          <p:nvPr/>
        </p:nvSpPr>
        <p:spPr>
          <a:xfrm>
            <a:off x="4526280" y="384048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384048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382219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Explainable trade-offs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11480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transparent, reproducible rankings</a:t>
            </a:r>
          </a:p>
        </p:txBody>
      </p:sp>
      <p:sp>
        <p:nvSpPr>
          <p:cNvPr id="44" name="Oval 43"/>
          <p:cNvSpPr/>
          <p:nvPr/>
        </p:nvSpPr>
        <p:spPr>
          <a:xfrm>
            <a:off x="4526280" y="461772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461772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59943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ETL validates the approach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48920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Playwright scrape · normalize · dedup</a:t>
            </a:r>
          </a:p>
        </p:txBody>
      </p:sp>
      <p:sp>
        <p:nvSpPr>
          <p:cNvPr id="48" name="Oval 47"/>
          <p:cNvSpPr/>
          <p:nvPr/>
        </p:nvSpPr>
        <p:spPr>
          <a:xfrm>
            <a:off x="4526280" y="53949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539496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537667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Lifecycle value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66928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extends past the purchase itself</a:t>
            </a:r>
          </a:p>
        </p:txBody>
      </p:sp>
      <p:sp>
        <p:nvSpPr>
          <p:cNvPr id="52" name="Oval 51"/>
          <p:cNvSpPr/>
          <p:nvPr/>
        </p:nvSpPr>
        <p:spPr>
          <a:xfrm>
            <a:off x="8412480" y="2286000"/>
            <a:ext cx="320040" cy="320040"/>
          </a:xfrm>
          <a:prstGeom prst="ellipse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2860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226771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Formal user study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3960" y="256032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SUS + task completion time</a:t>
            </a:r>
          </a:p>
        </p:txBody>
      </p:sp>
      <p:sp>
        <p:nvSpPr>
          <p:cNvPr id="56" name="Oval 55"/>
          <p:cNvSpPr/>
          <p:nvPr/>
        </p:nvSpPr>
        <p:spPr>
          <a:xfrm>
            <a:off x="8412480" y="3063240"/>
            <a:ext cx="320040" cy="320040"/>
          </a:xfrm>
          <a:prstGeom prst="ellipse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306324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304495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Live retailer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333756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real-time pricing</a:t>
            </a:r>
          </a:p>
        </p:txBody>
      </p:sp>
      <p:sp>
        <p:nvSpPr>
          <p:cNvPr id="60" name="Oval 59"/>
          <p:cNvSpPr/>
          <p:nvPr/>
        </p:nvSpPr>
        <p:spPr>
          <a:xfrm>
            <a:off x="8412480" y="3840480"/>
            <a:ext cx="320040" cy="320040"/>
          </a:xfrm>
          <a:prstGeom prst="ellipse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384048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382219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Learned ranking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23960" y="411480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from interaction data</a:t>
            </a:r>
          </a:p>
        </p:txBody>
      </p:sp>
      <p:sp>
        <p:nvSpPr>
          <p:cNvPr id="64" name="Oval 63"/>
          <p:cNvSpPr/>
          <p:nvPr/>
        </p:nvSpPr>
        <p:spPr>
          <a:xfrm>
            <a:off x="8412480" y="4617720"/>
            <a:ext cx="320040" cy="320040"/>
          </a:xfrm>
          <a:prstGeom prst="ellipse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461772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23960" y="459943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More categories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48920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beyond the current three</a:t>
            </a:r>
          </a:p>
        </p:txBody>
      </p:sp>
      <p:sp>
        <p:nvSpPr>
          <p:cNvPr id="68" name="Oval 67"/>
          <p:cNvSpPr/>
          <p:nvPr/>
        </p:nvSpPr>
        <p:spPr>
          <a:xfrm>
            <a:off x="8412480" y="5394960"/>
            <a:ext cx="320040" cy="320040"/>
          </a:xfrm>
          <a:prstGeom prst="ellipse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539496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23960" y="537667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1E2761"/>
                </a:solidFill>
                <a:latin typeface="Georgia"/>
              </a:rPr>
              <a:t>Mobile-first UI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23960" y="566928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000">
                <a:solidFill>
                  <a:srgbClr val="1A1A2E"/>
                </a:solidFill>
                <a:latin typeface="Calibri"/>
              </a:rPr>
              <a:t>redesign for small screens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1" i="0" sz="720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b="0" i="0" sz="2400">
                <a:solidFill>
                  <a:srgbClr val="CADCFC"/>
                </a:solidFill>
                <a:latin typeface="Georgia"/>
              </a:rPr>
              <a:t>Questions  &amp; 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383280"/>
            <a:ext cx="2679192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3840480"/>
            <a:ext cx="8531352" cy="2011680"/>
          </a:xfrm>
          <a:prstGeom prst="rect">
            <a:avLst/>
          </a:prstGeom>
          <a:solidFill>
            <a:srgbClr val="121A47"/>
          </a:solidFill>
          <a:ln w="15875">
            <a:solidFill>
              <a:srgbClr val="3A4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4023360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96167"/>
                </a:solidFill>
                <a:latin typeface="Georgia"/>
              </a:rP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023360"/>
            <a:ext cx="5943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Chenghui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462272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96167"/>
                </a:solidFill>
                <a:latin typeface="Georgia"/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462272"/>
            <a:ext cx="5943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California State University, East Bay  ·  CSUEB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901184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96167"/>
                </a:solidFill>
                <a:latin typeface="Georgia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901184"/>
            <a:ext cx="5943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A Decision-Oriented Conversational Shopping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340096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i="0" sz="1200">
                <a:solidFill>
                  <a:srgbClr val="F96167"/>
                </a:solidFill>
                <a:latin typeface="Georgia"/>
              </a:rPr>
              <a:t>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340096"/>
            <a:ext cx="5943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React · TypeScript · FastAPI · Python · Claude Opus 4.6 · Playwright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b="0" i="0" sz="900">
                <a:solidFill>
                  <a:srgbClr val="A9C1F4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